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</p:sldMasterIdLst>
  <p:notesMasterIdLst>
    <p:notesMasterId r:id="rId27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9" r:id="rId23"/>
    <p:sldId id="270" r:id="rId24"/>
    <p:sldId id="267" r:id="rId25"/>
    <p:sldId id="268" r:id="rId26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45" autoAdjust="0"/>
    <p:restoredTop sz="75425" autoAdjust="0"/>
  </p:normalViewPr>
  <p:slideViewPr>
    <p:cSldViewPr snapToGrid="0">
      <p:cViewPr varScale="1">
        <p:scale>
          <a:sx n="62" d="100"/>
          <a:sy n="62" d="100"/>
        </p:scale>
        <p:origin x="15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26D38F-6FC9-410F-BF0D-881FA4890774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5D66E98-42DE-4599-9253-A662FF13EF09}">
      <dgm:prSet phldrT="[Texto]" phldr="0"/>
      <dgm:spPr/>
      <dgm:t>
        <a:bodyPr/>
        <a:lstStyle/>
        <a:p>
          <a:r>
            <a:rPr lang="pt-BR" dirty="0"/>
            <a:t>Custos</a:t>
          </a:r>
        </a:p>
      </dgm:t>
    </dgm:pt>
    <dgm:pt modelId="{CF172166-0E3F-4C10-9356-5F22E74AC55F}" type="parTrans" cxnId="{31AE9241-7405-4DA5-80FF-BBC86438A8B6}">
      <dgm:prSet/>
      <dgm:spPr/>
      <dgm:t>
        <a:bodyPr/>
        <a:lstStyle/>
        <a:p>
          <a:endParaRPr lang="pt-BR"/>
        </a:p>
      </dgm:t>
    </dgm:pt>
    <dgm:pt modelId="{A7A1BA00-7E7B-4048-9BD6-91DB49ABF078}" type="sibTrans" cxnId="{31AE9241-7405-4DA5-80FF-BBC86438A8B6}">
      <dgm:prSet/>
      <dgm:spPr/>
      <dgm:t>
        <a:bodyPr/>
        <a:lstStyle/>
        <a:p>
          <a:endParaRPr lang="pt-BR"/>
        </a:p>
      </dgm:t>
    </dgm:pt>
    <dgm:pt modelId="{C5394DA8-BD9C-43E3-A778-2E800FEB4B08}">
      <dgm:prSet phldrT="[Texto]" phldr="0"/>
      <dgm:spPr/>
      <dgm:t>
        <a:bodyPr/>
        <a:lstStyle/>
        <a:p>
          <a:r>
            <a:rPr lang="pt-BR" dirty="0"/>
            <a:t>Parcerias</a:t>
          </a:r>
        </a:p>
      </dgm:t>
    </dgm:pt>
    <dgm:pt modelId="{A2F43601-0CBB-46E7-94C1-AACD08D3FF56}" type="parTrans" cxnId="{2DBB4B86-CB41-46DE-8CA6-B6521E80CEF3}">
      <dgm:prSet/>
      <dgm:spPr/>
      <dgm:t>
        <a:bodyPr/>
        <a:lstStyle/>
        <a:p>
          <a:endParaRPr lang="pt-BR"/>
        </a:p>
      </dgm:t>
    </dgm:pt>
    <dgm:pt modelId="{C894A45F-6997-4A1F-A45E-9D912610DD4E}" type="sibTrans" cxnId="{2DBB4B86-CB41-46DE-8CA6-B6521E80CEF3}">
      <dgm:prSet/>
      <dgm:spPr/>
      <dgm:t>
        <a:bodyPr/>
        <a:lstStyle/>
        <a:p>
          <a:endParaRPr lang="pt-BR"/>
        </a:p>
      </dgm:t>
    </dgm:pt>
    <dgm:pt modelId="{EF8CDB69-B614-4BCF-8EED-B557D8A898AB}">
      <dgm:prSet phldrT="[Texto]" phldr="0"/>
      <dgm:spPr/>
      <dgm:t>
        <a:bodyPr/>
        <a:lstStyle/>
        <a:p>
          <a:r>
            <a:rPr lang="pt-BR" dirty="0"/>
            <a:t>Padronização</a:t>
          </a:r>
        </a:p>
      </dgm:t>
    </dgm:pt>
    <dgm:pt modelId="{DD64E42B-535D-42C2-8D47-DA86E499E802}" type="parTrans" cxnId="{0FA52130-55BA-46F1-9F5C-E84ECEDAA33B}">
      <dgm:prSet/>
      <dgm:spPr/>
      <dgm:t>
        <a:bodyPr/>
        <a:lstStyle/>
        <a:p>
          <a:endParaRPr lang="pt-BR"/>
        </a:p>
      </dgm:t>
    </dgm:pt>
    <dgm:pt modelId="{935FDA32-D661-4CE5-8733-3D47CC7808A3}" type="sibTrans" cxnId="{0FA52130-55BA-46F1-9F5C-E84ECEDAA33B}">
      <dgm:prSet/>
      <dgm:spPr/>
      <dgm:t>
        <a:bodyPr/>
        <a:lstStyle/>
        <a:p>
          <a:endParaRPr lang="pt-BR"/>
        </a:p>
      </dgm:t>
    </dgm:pt>
    <dgm:pt modelId="{8A0A36B0-D689-4B0D-97AE-5075AE2EA537}" type="pres">
      <dgm:prSet presAssocID="{6526D38F-6FC9-410F-BF0D-881FA4890774}" presName="compositeShape" presStyleCnt="0">
        <dgm:presLayoutVars>
          <dgm:chMax val="7"/>
          <dgm:dir/>
          <dgm:resizeHandles val="exact"/>
        </dgm:presLayoutVars>
      </dgm:prSet>
      <dgm:spPr/>
    </dgm:pt>
    <dgm:pt modelId="{2784263B-2F25-4193-8423-1CE494F843AB}" type="pres">
      <dgm:prSet presAssocID="{6526D38F-6FC9-410F-BF0D-881FA4890774}" presName="wedge1" presStyleLbl="node1" presStyleIdx="0" presStyleCnt="3" custLinFactNeighborY="0"/>
      <dgm:spPr/>
    </dgm:pt>
    <dgm:pt modelId="{83884C0C-1D21-4E8D-91EB-D8CD9DCFD474}" type="pres">
      <dgm:prSet presAssocID="{6526D38F-6FC9-410F-BF0D-881FA4890774}" presName="dummy1a" presStyleCnt="0"/>
      <dgm:spPr/>
    </dgm:pt>
    <dgm:pt modelId="{3D26D7FC-4E8C-4ED3-A923-AC0598BB0A2F}" type="pres">
      <dgm:prSet presAssocID="{6526D38F-6FC9-410F-BF0D-881FA4890774}" presName="dummy1b" presStyleCnt="0"/>
      <dgm:spPr/>
    </dgm:pt>
    <dgm:pt modelId="{0B9E04EB-7677-42B6-9CC2-3E9237DF8430}" type="pres">
      <dgm:prSet presAssocID="{6526D38F-6FC9-410F-BF0D-881FA4890774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0BB3E2C-A68C-4A02-9D40-1BB1F9AC0997}" type="pres">
      <dgm:prSet presAssocID="{6526D38F-6FC9-410F-BF0D-881FA4890774}" presName="wedge2" presStyleLbl="node1" presStyleIdx="1" presStyleCnt="3"/>
      <dgm:spPr/>
    </dgm:pt>
    <dgm:pt modelId="{019B5330-95AF-400B-8E70-0F4808D0DC2F}" type="pres">
      <dgm:prSet presAssocID="{6526D38F-6FC9-410F-BF0D-881FA4890774}" presName="dummy2a" presStyleCnt="0"/>
      <dgm:spPr/>
    </dgm:pt>
    <dgm:pt modelId="{4845EB30-DFEB-4C1E-A833-50ABF6E4967E}" type="pres">
      <dgm:prSet presAssocID="{6526D38F-6FC9-410F-BF0D-881FA4890774}" presName="dummy2b" presStyleCnt="0"/>
      <dgm:spPr/>
    </dgm:pt>
    <dgm:pt modelId="{4A608834-3E0A-49E4-8217-76D54BC8E251}" type="pres">
      <dgm:prSet presAssocID="{6526D38F-6FC9-410F-BF0D-881FA4890774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FBAD3EA-EAF5-4CF1-9B4E-5F05E93BAFA6}" type="pres">
      <dgm:prSet presAssocID="{6526D38F-6FC9-410F-BF0D-881FA4890774}" presName="wedge3" presStyleLbl="node1" presStyleIdx="2" presStyleCnt="3"/>
      <dgm:spPr/>
    </dgm:pt>
    <dgm:pt modelId="{E779EED6-FEE2-476A-9F66-78AABB4A5CFD}" type="pres">
      <dgm:prSet presAssocID="{6526D38F-6FC9-410F-BF0D-881FA4890774}" presName="dummy3a" presStyleCnt="0"/>
      <dgm:spPr/>
    </dgm:pt>
    <dgm:pt modelId="{A192E208-2406-427D-A265-7D5773001DAB}" type="pres">
      <dgm:prSet presAssocID="{6526D38F-6FC9-410F-BF0D-881FA4890774}" presName="dummy3b" presStyleCnt="0"/>
      <dgm:spPr/>
    </dgm:pt>
    <dgm:pt modelId="{9A769F67-27A7-42D6-8075-BB2E869CE710}" type="pres">
      <dgm:prSet presAssocID="{6526D38F-6FC9-410F-BF0D-881FA4890774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58B6953A-C6AA-45C6-9A6F-3C26B9E33FA4}" type="pres">
      <dgm:prSet presAssocID="{A7A1BA00-7E7B-4048-9BD6-91DB49ABF078}" presName="arrowWedge1" presStyleLbl="fgSibTrans2D1" presStyleIdx="0" presStyleCnt="3"/>
      <dgm:spPr/>
    </dgm:pt>
    <dgm:pt modelId="{955001D4-3470-42B3-AD0C-042F60755708}" type="pres">
      <dgm:prSet presAssocID="{C894A45F-6997-4A1F-A45E-9D912610DD4E}" presName="arrowWedge2" presStyleLbl="fgSibTrans2D1" presStyleIdx="1" presStyleCnt="3"/>
      <dgm:spPr/>
    </dgm:pt>
    <dgm:pt modelId="{C0921A21-13C6-4D04-A343-51199A2BF035}" type="pres">
      <dgm:prSet presAssocID="{935FDA32-D661-4CE5-8733-3D47CC7808A3}" presName="arrowWedge3" presStyleLbl="fgSibTrans2D1" presStyleIdx="2" presStyleCnt="3"/>
      <dgm:spPr/>
    </dgm:pt>
  </dgm:ptLst>
  <dgm:cxnLst>
    <dgm:cxn modelId="{DE71292E-7AE9-4E8F-891A-2082EDD924B1}" type="presOf" srcId="{15D66E98-42DE-4599-9253-A662FF13EF09}" destId="{0B9E04EB-7677-42B6-9CC2-3E9237DF8430}" srcOrd="1" destOrd="0" presId="urn:microsoft.com/office/officeart/2005/8/layout/cycle8"/>
    <dgm:cxn modelId="{0FA52130-55BA-46F1-9F5C-E84ECEDAA33B}" srcId="{6526D38F-6FC9-410F-BF0D-881FA4890774}" destId="{EF8CDB69-B614-4BCF-8EED-B557D8A898AB}" srcOrd="2" destOrd="0" parTransId="{DD64E42B-535D-42C2-8D47-DA86E499E802}" sibTransId="{935FDA32-D661-4CE5-8733-3D47CC7808A3}"/>
    <dgm:cxn modelId="{31AE9241-7405-4DA5-80FF-BBC86438A8B6}" srcId="{6526D38F-6FC9-410F-BF0D-881FA4890774}" destId="{15D66E98-42DE-4599-9253-A662FF13EF09}" srcOrd="0" destOrd="0" parTransId="{CF172166-0E3F-4C10-9356-5F22E74AC55F}" sibTransId="{A7A1BA00-7E7B-4048-9BD6-91DB49ABF078}"/>
    <dgm:cxn modelId="{0725A26B-38B5-4116-BACC-1A7AE9B6EDD8}" type="presOf" srcId="{C5394DA8-BD9C-43E3-A778-2E800FEB4B08}" destId="{90BB3E2C-A68C-4A02-9D40-1BB1F9AC0997}" srcOrd="0" destOrd="0" presId="urn:microsoft.com/office/officeart/2005/8/layout/cycle8"/>
    <dgm:cxn modelId="{67B4FD4D-595E-4D10-B22B-429457466B26}" type="presOf" srcId="{6526D38F-6FC9-410F-BF0D-881FA4890774}" destId="{8A0A36B0-D689-4B0D-97AE-5075AE2EA537}" srcOrd="0" destOrd="0" presId="urn:microsoft.com/office/officeart/2005/8/layout/cycle8"/>
    <dgm:cxn modelId="{2DBB4B86-CB41-46DE-8CA6-B6521E80CEF3}" srcId="{6526D38F-6FC9-410F-BF0D-881FA4890774}" destId="{C5394DA8-BD9C-43E3-A778-2E800FEB4B08}" srcOrd="1" destOrd="0" parTransId="{A2F43601-0CBB-46E7-94C1-AACD08D3FF56}" sibTransId="{C894A45F-6997-4A1F-A45E-9D912610DD4E}"/>
    <dgm:cxn modelId="{99E38687-6EAA-403C-B577-1B703EC80A5E}" type="presOf" srcId="{EF8CDB69-B614-4BCF-8EED-B557D8A898AB}" destId="{4FBAD3EA-EAF5-4CF1-9B4E-5F05E93BAFA6}" srcOrd="0" destOrd="0" presId="urn:microsoft.com/office/officeart/2005/8/layout/cycle8"/>
    <dgm:cxn modelId="{8D2F43A4-4677-4316-91B6-07A23944FCE9}" type="presOf" srcId="{EF8CDB69-B614-4BCF-8EED-B557D8A898AB}" destId="{9A769F67-27A7-42D6-8075-BB2E869CE710}" srcOrd="1" destOrd="0" presId="urn:microsoft.com/office/officeart/2005/8/layout/cycle8"/>
    <dgm:cxn modelId="{001D16F4-4C00-4B17-9AEE-071A980CE685}" type="presOf" srcId="{15D66E98-42DE-4599-9253-A662FF13EF09}" destId="{2784263B-2F25-4193-8423-1CE494F843AB}" srcOrd="0" destOrd="0" presId="urn:microsoft.com/office/officeart/2005/8/layout/cycle8"/>
    <dgm:cxn modelId="{634831F9-C6B2-411C-8D46-5698B0F93CF4}" type="presOf" srcId="{C5394DA8-BD9C-43E3-A778-2E800FEB4B08}" destId="{4A608834-3E0A-49E4-8217-76D54BC8E251}" srcOrd="1" destOrd="0" presId="urn:microsoft.com/office/officeart/2005/8/layout/cycle8"/>
    <dgm:cxn modelId="{C8D5CF03-61F5-42DB-B724-57BEA084A0B8}" type="presParOf" srcId="{8A0A36B0-D689-4B0D-97AE-5075AE2EA537}" destId="{2784263B-2F25-4193-8423-1CE494F843AB}" srcOrd="0" destOrd="0" presId="urn:microsoft.com/office/officeart/2005/8/layout/cycle8"/>
    <dgm:cxn modelId="{C7BB64F5-A379-4425-97C7-C7F2977B37AA}" type="presParOf" srcId="{8A0A36B0-D689-4B0D-97AE-5075AE2EA537}" destId="{83884C0C-1D21-4E8D-91EB-D8CD9DCFD474}" srcOrd="1" destOrd="0" presId="urn:microsoft.com/office/officeart/2005/8/layout/cycle8"/>
    <dgm:cxn modelId="{209447B5-350C-4C80-A971-FAFDDA5FC119}" type="presParOf" srcId="{8A0A36B0-D689-4B0D-97AE-5075AE2EA537}" destId="{3D26D7FC-4E8C-4ED3-A923-AC0598BB0A2F}" srcOrd="2" destOrd="0" presId="urn:microsoft.com/office/officeart/2005/8/layout/cycle8"/>
    <dgm:cxn modelId="{D9E8263C-BF73-4328-8AFD-E91BB4C2261F}" type="presParOf" srcId="{8A0A36B0-D689-4B0D-97AE-5075AE2EA537}" destId="{0B9E04EB-7677-42B6-9CC2-3E9237DF8430}" srcOrd="3" destOrd="0" presId="urn:microsoft.com/office/officeart/2005/8/layout/cycle8"/>
    <dgm:cxn modelId="{AE10ACB9-700F-437D-B51E-E670DDC9C803}" type="presParOf" srcId="{8A0A36B0-D689-4B0D-97AE-5075AE2EA537}" destId="{90BB3E2C-A68C-4A02-9D40-1BB1F9AC0997}" srcOrd="4" destOrd="0" presId="urn:microsoft.com/office/officeart/2005/8/layout/cycle8"/>
    <dgm:cxn modelId="{E358AED6-7F05-4C34-A70A-79F8A773269E}" type="presParOf" srcId="{8A0A36B0-D689-4B0D-97AE-5075AE2EA537}" destId="{019B5330-95AF-400B-8E70-0F4808D0DC2F}" srcOrd="5" destOrd="0" presId="urn:microsoft.com/office/officeart/2005/8/layout/cycle8"/>
    <dgm:cxn modelId="{67F994FA-482E-4406-B964-6CACE7D56D93}" type="presParOf" srcId="{8A0A36B0-D689-4B0D-97AE-5075AE2EA537}" destId="{4845EB30-DFEB-4C1E-A833-50ABF6E4967E}" srcOrd="6" destOrd="0" presId="urn:microsoft.com/office/officeart/2005/8/layout/cycle8"/>
    <dgm:cxn modelId="{FF4C5A20-D344-415D-9CAA-8DFC6497AC26}" type="presParOf" srcId="{8A0A36B0-D689-4B0D-97AE-5075AE2EA537}" destId="{4A608834-3E0A-49E4-8217-76D54BC8E251}" srcOrd="7" destOrd="0" presId="urn:microsoft.com/office/officeart/2005/8/layout/cycle8"/>
    <dgm:cxn modelId="{65B8B4C1-2C0C-4AA2-8C4F-C10C820AEE5F}" type="presParOf" srcId="{8A0A36B0-D689-4B0D-97AE-5075AE2EA537}" destId="{4FBAD3EA-EAF5-4CF1-9B4E-5F05E93BAFA6}" srcOrd="8" destOrd="0" presId="urn:microsoft.com/office/officeart/2005/8/layout/cycle8"/>
    <dgm:cxn modelId="{62824F22-AF97-4BE4-89A4-480B7BD829F3}" type="presParOf" srcId="{8A0A36B0-D689-4B0D-97AE-5075AE2EA537}" destId="{E779EED6-FEE2-476A-9F66-78AABB4A5CFD}" srcOrd="9" destOrd="0" presId="urn:microsoft.com/office/officeart/2005/8/layout/cycle8"/>
    <dgm:cxn modelId="{E7332A47-81BC-4DCA-90C1-F58BC532533B}" type="presParOf" srcId="{8A0A36B0-D689-4B0D-97AE-5075AE2EA537}" destId="{A192E208-2406-427D-A265-7D5773001DAB}" srcOrd="10" destOrd="0" presId="urn:microsoft.com/office/officeart/2005/8/layout/cycle8"/>
    <dgm:cxn modelId="{B111C94B-0C74-4594-B43B-3965C5EAF79D}" type="presParOf" srcId="{8A0A36B0-D689-4B0D-97AE-5075AE2EA537}" destId="{9A769F67-27A7-42D6-8075-BB2E869CE710}" srcOrd="11" destOrd="0" presId="urn:microsoft.com/office/officeart/2005/8/layout/cycle8"/>
    <dgm:cxn modelId="{C851DBAC-F43B-4AE7-8A52-A94270B0EE98}" type="presParOf" srcId="{8A0A36B0-D689-4B0D-97AE-5075AE2EA537}" destId="{58B6953A-C6AA-45C6-9A6F-3C26B9E33FA4}" srcOrd="12" destOrd="0" presId="urn:microsoft.com/office/officeart/2005/8/layout/cycle8"/>
    <dgm:cxn modelId="{333D3CBE-A2B1-412A-998C-70105199FEED}" type="presParOf" srcId="{8A0A36B0-D689-4B0D-97AE-5075AE2EA537}" destId="{955001D4-3470-42B3-AD0C-042F60755708}" srcOrd="13" destOrd="0" presId="urn:microsoft.com/office/officeart/2005/8/layout/cycle8"/>
    <dgm:cxn modelId="{CB6F300F-650C-44B4-B18C-6F6A84182B38}" type="presParOf" srcId="{8A0A36B0-D689-4B0D-97AE-5075AE2EA537}" destId="{C0921A21-13C6-4D04-A343-51199A2BF035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4263B-2F25-4193-8423-1CE494F843AB}">
      <dsp:nvSpPr>
        <dsp:cNvPr id="0" name=""/>
        <dsp:cNvSpPr/>
      </dsp:nvSpPr>
      <dsp:spPr>
        <a:xfrm>
          <a:off x="762974" y="204834"/>
          <a:ext cx="2647086" cy="2647086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Custos</a:t>
          </a:r>
        </a:p>
      </dsp:txBody>
      <dsp:txXfrm>
        <a:off x="2158051" y="765764"/>
        <a:ext cx="945387" cy="787823"/>
      </dsp:txXfrm>
    </dsp:sp>
    <dsp:sp modelId="{90BB3E2C-A68C-4A02-9D40-1BB1F9AC0997}">
      <dsp:nvSpPr>
        <dsp:cNvPr id="0" name=""/>
        <dsp:cNvSpPr/>
      </dsp:nvSpPr>
      <dsp:spPr>
        <a:xfrm>
          <a:off x="708456" y="299372"/>
          <a:ext cx="2647086" cy="2647086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Parcerias</a:t>
          </a:r>
        </a:p>
      </dsp:txBody>
      <dsp:txXfrm>
        <a:off x="1338715" y="2016827"/>
        <a:ext cx="1418081" cy="693284"/>
      </dsp:txXfrm>
    </dsp:sp>
    <dsp:sp modelId="{4FBAD3EA-EAF5-4CF1-9B4E-5F05E93BAFA6}">
      <dsp:nvSpPr>
        <dsp:cNvPr id="0" name=""/>
        <dsp:cNvSpPr/>
      </dsp:nvSpPr>
      <dsp:spPr>
        <a:xfrm>
          <a:off x="653939" y="204834"/>
          <a:ext cx="2647086" cy="2647086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Padronização</a:t>
          </a:r>
        </a:p>
      </dsp:txBody>
      <dsp:txXfrm>
        <a:off x="960560" y="765764"/>
        <a:ext cx="945387" cy="787823"/>
      </dsp:txXfrm>
    </dsp:sp>
    <dsp:sp modelId="{58B6953A-C6AA-45C6-9A6F-3C26B9E33FA4}">
      <dsp:nvSpPr>
        <dsp:cNvPr id="0" name=""/>
        <dsp:cNvSpPr/>
      </dsp:nvSpPr>
      <dsp:spPr>
        <a:xfrm>
          <a:off x="599325" y="40966"/>
          <a:ext cx="2974820" cy="2974820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001D4-3470-42B3-AD0C-042F60755708}">
      <dsp:nvSpPr>
        <dsp:cNvPr id="0" name=""/>
        <dsp:cNvSpPr/>
      </dsp:nvSpPr>
      <dsp:spPr>
        <a:xfrm>
          <a:off x="544589" y="135338"/>
          <a:ext cx="2974820" cy="2974820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21A21-13C6-4D04-A343-51199A2BF035}">
      <dsp:nvSpPr>
        <dsp:cNvPr id="0" name=""/>
        <dsp:cNvSpPr/>
      </dsp:nvSpPr>
      <dsp:spPr>
        <a:xfrm>
          <a:off x="489853" y="40966"/>
          <a:ext cx="2974820" cy="2974820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mover o slide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E6BBCA9-A270-4A3C-9113-2B7A74BFACD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“Bom dia.</a:t>
            </a:r>
          </a:p>
          <a:p>
            <a:r>
              <a:rPr lang="pt-BR" sz="2000" dirty="0"/>
              <a:t>Vou apresentar uma linha de trabalho que vem sendo estruturada com foco em integrar dados que já existem e apoiar as políticas públicas de forma mais coordenada entre as secretarias.</a:t>
            </a:r>
          </a:p>
          <a:p>
            <a:r>
              <a:rPr lang="pt-BR" sz="2000" dirty="0"/>
              <a:t>A ideia aqui não é criar algo novo, mas melhorar a forma como utilizamos o que já temos.                                                                                                                                                                                Segue exemplo de padronização ditado pelo Tribunal de Contas do Estado de São Paulo para o recebimento de material didático pelas secretarias de educação                                                                 </a:t>
            </a:r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” </a:t>
            </a:r>
            <a:r>
              <a:rPr lang="pt-BR" sz="2000" b="1" dirty="0"/>
              <a:t>Entre Slide 1 → 2</a:t>
            </a:r>
          </a:p>
          <a:p>
            <a:r>
              <a:rPr lang="pt-BR" sz="2000" dirty="0"/>
              <a:t>“Para contextualizar onde isso nasce na estrutura…”</a:t>
            </a:r>
          </a:p>
          <a:p>
            <a:endParaRPr lang="pt-BR" sz="2000" dirty="0"/>
          </a:p>
          <a:p>
            <a:pPr indent="0" algn="l">
              <a:lnSpc>
                <a:spcPct val="100000"/>
              </a:lnSpc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DB9A4C-3E0D-47B4-B9FF-9B10D8AD3FBB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“Essa linha de trabalho nasce dentro da SMIDS, que hoje já concentra um volume importante de dados sociais.</a:t>
            </a:r>
          </a:p>
          <a:p>
            <a:r>
              <a:rPr lang="pt-BR" sz="2000" dirty="0"/>
              <a:t>Mas, na prática, ela não se limita à assistência.</a:t>
            </a:r>
          </a:p>
          <a:p>
            <a:r>
              <a:rPr lang="pt-BR" sz="2000" dirty="0"/>
              <a:t>A vulnerabilidade atravessa saúde, educação, segurança e outras áreas — então a proposta já nasce com caráter </a:t>
            </a:r>
            <a:r>
              <a:rPr lang="pt-BR" sz="2000" dirty="0" err="1"/>
              <a:t>intersecretarial</a:t>
            </a:r>
            <a:r>
              <a:rPr lang="pt-BR" sz="2000" dirty="0"/>
              <a:t>.”                                                                                           </a:t>
            </a:r>
            <a:r>
              <a:rPr lang="pt-BR" sz="2000" b="1" dirty="0"/>
              <a:t>Entre Slide 2 → 3</a:t>
            </a:r>
          </a:p>
          <a:p>
            <a:r>
              <a:rPr lang="pt-BR" sz="2000" dirty="0"/>
              <a:t>“A partir disso, o papel do departamento fica mais claro…”</a:t>
            </a:r>
          </a:p>
          <a:p>
            <a:endParaRPr lang="pt-BR" sz="2000" dirty="0"/>
          </a:p>
          <a:p>
            <a:pPr indent="0" algn="l">
              <a:lnSpc>
                <a:spcPct val="100000"/>
              </a:lnSpc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E2231C-C040-4AAF-BF25-98FF33DAE2B0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“O papel do departamento aqui não é produzir mais dado.</a:t>
            </a:r>
          </a:p>
          <a:p>
            <a:r>
              <a:rPr lang="pt-BR" sz="2000" dirty="0"/>
              <a:t>É transformar o dado existente em algo que permita decidir melhor.</a:t>
            </a:r>
          </a:p>
          <a:p>
            <a:r>
              <a:rPr lang="pt-BR" sz="2000" dirty="0"/>
              <a:t>Principalmente olhando o município de forma territorial — por região, núcleo e loteamento.” </a:t>
            </a:r>
            <a:r>
              <a:rPr lang="pt-BR" sz="2000" b="1" dirty="0"/>
              <a:t>Entre Slide 3 → 4</a:t>
            </a:r>
          </a:p>
          <a:p>
            <a:r>
              <a:rPr lang="pt-BR" sz="2000" dirty="0"/>
              <a:t>“E isso já começa a se materializar em ações práticas…”</a:t>
            </a:r>
          </a:p>
          <a:p>
            <a:endParaRPr lang="pt-BR" sz="2000" dirty="0"/>
          </a:p>
        </p:txBody>
      </p:sp>
      <p:sp>
        <p:nvSpPr>
          <p:cNvPr id="16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851F0A-AC1A-45E9-BE3D-E287D0BD9712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“Hoje já existe um conjunto de ações em andamento:</a:t>
            </a:r>
          </a:p>
          <a:p>
            <a:r>
              <a:rPr lang="pt-BR" sz="2000" dirty="0"/>
              <a:t>organização de base única, tratamento do CadÚnico, integração com SIG e estruturação de indicadores.</a:t>
            </a:r>
          </a:p>
          <a:p>
            <a:r>
              <a:rPr lang="pt-BR" sz="2000" dirty="0"/>
              <a:t>Isso já começa a reduzir retrabalho entre equipes e permite uma leitura mais consistente do território.”                                                                                                                                   </a:t>
            </a:r>
            <a:r>
              <a:rPr lang="pt-BR" sz="2000" b="1" dirty="0"/>
              <a:t>Entre Slide 4 → 5 ⚠️ (A MAIS IMPORTANTE)</a:t>
            </a:r>
          </a:p>
          <a:p>
            <a:r>
              <a:rPr lang="pt-BR" sz="2000" dirty="0"/>
              <a:t>“E aqui começa a aparecer resultado concreto dessa organização.”</a:t>
            </a:r>
          </a:p>
          <a:p>
            <a:r>
              <a:rPr lang="pt-BR" sz="2000" dirty="0"/>
              <a:t>👉 aqui você entra no dado</a:t>
            </a:r>
            <a:br>
              <a:rPr lang="pt-BR" sz="2000" dirty="0"/>
            </a:br>
            <a:r>
              <a:rPr lang="pt-BR" sz="2000" dirty="0"/>
              <a:t>👉 aqui você ganha a sala</a:t>
            </a:r>
          </a:p>
          <a:p>
            <a:endParaRPr lang="pt-BR" sz="2000" dirty="0"/>
          </a:p>
        </p:txBody>
      </p:sp>
      <p:sp>
        <p:nvSpPr>
          <p:cNvPr id="17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C5DBC5-42B6-404B-9085-DBDB367E8233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“Aqui nós fizemos uma leitura inicial com base em eventos recentes, organizados a partir da lógica do Índice de Vulnerabilidade Social do IPEA, que estrutura a análise em três dimensões principais: capital humano, renda e trabalho, e infraestrutura urbana.</a:t>
            </a:r>
          </a:p>
          <a:p>
            <a:r>
              <a:rPr lang="pt-BR" sz="2000" dirty="0"/>
              <a:t>O que estamos fazendo aqui é uma adaptação dessa lógica para a realidade de Hortolândia, mantendo a comparabilidade nacional, mas trazendo o olhar para o território local.”</a:t>
            </a:r>
          </a:p>
          <a:p>
            <a:r>
              <a:rPr lang="pt-BR" sz="2000" dirty="0"/>
              <a:t>“Aqui nós temos uma leitura inicial, ainda com uma amostra estruturada de eventos recentes.</a:t>
            </a:r>
            <a:br>
              <a:rPr lang="pt-BR" sz="2000" dirty="0"/>
            </a:br>
            <a:r>
              <a:rPr lang="pt-BR" sz="2000" dirty="0"/>
              <a:t>O que aparece com clareza é uma concentração em capital humano, com predominância de ocorrências negativas — especialmente ligadas à segurança e vulnerabilidade social.</a:t>
            </a:r>
          </a:p>
          <a:p>
            <a:r>
              <a:rPr lang="pt-BR" sz="2000" dirty="0"/>
              <a:t>Ao mesmo tempo, surgem eventos positivos, principalmente de natureza institucional, indicando que a Prefeitura já está atuando e respondendo.</a:t>
            </a:r>
          </a:p>
          <a:p>
            <a:r>
              <a:rPr lang="pt-BR" sz="2000" dirty="0"/>
              <a:t>Ou seja, não se trata de ausência de ação — mas de um cenário em que há pressão social relevante, e a oportunidade está em melhorar a coordenação dessa atuação no território.”</a:t>
            </a:r>
          </a:p>
          <a:p>
            <a:r>
              <a:rPr lang="pt-BR" sz="2000" dirty="0"/>
              <a:t>👉 </a:t>
            </a:r>
            <a:r>
              <a:rPr lang="pt-BR" b="1" dirty="0"/>
              <a:t>✔ Definição prática</a:t>
            </a:r>
          </a:p>
          <a:p>
            <a:r>
              <a:rPr lang="pt-BR" b="1" dirty="0"/>
              <a:t>Eventos multidimensionais são aqueles que não atuam sobre uma única variável do IVS, mas atravessam simultaneamente mais de uma dimensão (capital humano, renda ou infraestrutura).</a:t>
            </a:r>
            <a:endParaRPr lang="pt-BR" dirty="0"/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🧭 📌 QUANDO USAR “MULTIDIMENSIONAL”</a:t>
            </a:r>
          </a:p>
          <a:p>
            <a:r>
              <a:rPr lang="pt-BR" b="1" dirty="0"/>
              <a:t>✔ 1. A ação envolve múltiplos efeitos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programa social que envolve renda + educação + assistência </a:t>
            </a:r>
          </a:p>
          <a:p>
            <a:r>
              <a:rPr lang="pt-BR" dirty="0"/>
              <a:t>ação integrada (CRAS + saúde + escola) 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✔ 2. Não é possível atribuir a uma variável única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atendimento familiar complexo </a:t>
            </a:r>
          </a:p>
          <a:p>
            <a:r>
              <a:rPr lang="pt-BR" dirty="0"/>
              <a:t>política pública com impacto difuso 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✔ 3. É uma resposta institucional transversal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atuação do PAIF / PAEFI </a:t>
            </a:r>
          </a:p>
          <a:p>
            <a:r>
              <a:rPr lang="pt-BR" dirty="0"/>
              <a:t>ações </a:t>
            </a:r>
            <a:r>
              <a:rPr lang="pt-BR" dirty="0" err="1"/>
              <a:t>intersecretariais</a:t>
            </a:r>
            <a:r>
              <a:rPr lang="pt-BR" dirty="0"/>
              <a:t> 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❗ QUANDO NÃO USAR</a:t>
            </a:r>
          </a:p>
          <a:p>
            <a:r>
              <a:rPr lang="pt-BR" dirty="0"/>
              <a:t>Não use multidimensional quando:</a:t>
            </a:r>
          </a:p>
          <a:p>
            <a:r>
              <a:rPr lang="pt-BR" dirty="0"/>
              <a:t>o evento tem </a:t>
            </a:r>
            <a:r>
              <a:rPr lang="pt-BR" b="1" dirty="0"/>
              <a:t>variável clara do IVS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ex: renda → RT_01 </a:t>
            </a:r>
          </a:p>
          <a:p>
            <a:pPr lvl="1"/>
            <a:r>
              <a:rPr lang="pt-BR" dirty="0"/>
              <a:t>ex: analfabetismo → CH_06 </a:t>
            </a:r>
          </a:p>
          <a:p>
            <a:pPr lvl="1"/>
            <a:r>
              <a:rPr lang="pt-BR" dirty="0"/>
              <a:t>ex: saneamento → IU_01 </a:t>
            </a:r>
          </a:p>
          <a:p>
            <a:r>
              <a:rPr lang="pt-BR" dirty="0"/>
              <a:t>👉 nesses casos, seja específico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🧠 NO NOSSO CONTEXTO</a:t>
            </a:r>
          </a:p>
          <a:p>
            <a:r>
              <a:rPr lang="pt-BR" dirty="0"/>
              <a:t>Quando você diz:</a:t>
            </a:r>
          </a:p>
          <a:p>
            <a:r>
              <a:rPr lang="pt-BR" b="1" dirty="0"/>
              <a:t>Multidimensional: 9 (~21%)</a:t>
            </a:r>
            <a:endParaRPr lang="pt-BR" dirty="0"/>
          </a:p>
          <a:p>
            <a:r>
              <a:rPr lang="pt-BR" dirty="0"/>
              <a:t>implicitamente:</a:t>
            </a:r>
          </a:p>
          <a:p>
            <a:r>
              <a:rPr lang="pt-BR" dirty="0"/>
              <a:t>“21% dos eventos não são explicáveis por uma única variável — exigem atuação integrada”</a:t>
            </a:r>
          </a:p>
          <a:p>
            <a:br>
              <a:rPr lang="pt-BR" dirty="0"/>
            </a:br>
            <a:endParaRPr lang="pt-BR" dirty="0"/>
          </a:p>
          <a:p>
            <a:endParaRPr lang="pt-BR" b="1" dirty="0"/>
          </a:p>
          <a:p>
            <a:r>
              <a:rPr lang="pt-BR" dirty="0"/>
              <a:t>“Multidimensional são eventos que não se encaixam em uma única dimensão do IVS e indicam necessidade de atuação integrada entre políticas públicas.”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“Uma parte relevante da vulnerabilidade não é setorial — é sistêmica</a:t>
            </a:r>
            <a:endParaRPr lang="pt-BR" dirty="0"/>
          </a:p>
          <a:p>
            <a:endParaRPr lang="pt-BR" sz="2000" dirty="0"/>
          </a:p>
          <a:p>
            <a:r>
              <a:rPr lang="pt-BR" sz="2000" dirty="0"/>
              <a:t> </a:t>
            </a:r>
            <a:r>
              <a:rPr lang="pt-BR" sz="2000" b="1" dirty="0"/>
              <a:t>Entre Slide 5 → 6</a:t>
            </a:r>
          </a:p>
          <a:p>
            <a:r>
              <a:rPr lang="pt-BR" sz="2000" dirty="0"/>
              <a:t>“A partir dessa leitura, ficam mais evidentes alguns desafios…”</a:t>
            </a:r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17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DBC325-5307-480F-8AB8-2F1E766C953D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“A partir dessa leitura que vimos no slide anterior, alguns pontos ficam mais claros.</a:t>
            </a:r>
            <a:br>
              <a:rPr lang="pt-BR" sz="2000" dirty="0"/>
            </a:br>
            <a:r>
              <a:rPr lang="pt-BR" sz="2000" dirty="0"/>
              <a:t>Hoje já existe esforço técnico relevante nas secretarias — isso é importante reconhecer.</a:t>
            </a:r>
          </a:p>
          <a:p>
            <a:r>
              <a:rPr lang="pt-BR" sz="2000" dirty="0"/>
              <a:t>Mas esse esforço ainda ocorre de forma fragmentada.</a:t>
            </a:r>
            <a:br>
              <a:rPr lang="pt-BR" sz="2000" dirty="0"/>
            </a:br>
            <a:r>
              <a:rPr lang="pt-BR" sz="2000" dirty="0"/>
              <a:t>Cada área trabalha com seu próprio recorte, o que gera retrabalho e dificulta uma leitura integrada do território.</a:t>
            </a:r>
          </a:p>
          <a:p>
            <a:r>
              <a:rPr lang="pt-BR" sz="2000" dirty="0"/>
              <a:t>E aqui está o ponto central:</a:t>
            </a:r>
            <a:br>
              <a:rPr lang="pt-BR" sz="2000" dirty="0"/>
            </a:br>
            <a:r>
              <a:rPr lang="pt-BR" sz="2000" dirty="0"/>
              <a:t>o problema não é falta de dado — é falta de convergência sobre o mesmo território.”</a:t>
            </a:r>
          </a:p>
          <a:p>
            <a:r>
              <a:rPr lang="pt-BR" sz="2000" dirty="0"/>
              <a:t>                                   </a:t>
            </a:r>
            <a:r>
              <a:rPr lang="pt-BR" sz="2000" b="1" dirty="0"/>
              <a:t>Entre Slide 6 → 7</a:t>
            </a:r>
          </a:p>
          <a:p>
            <a:r>
              <a:rPr lang="pt-BR" sz="2000" dirty="0"/>
              <a:t>“Com base nisso, definimos uma direção simples…”</a:t>
            </a:r>
          </a:p>
          <a:p>
            <a:endParaRPr lang="pt-BR" sz="2000" dirty="0"/>
          </a:p>
        </p:txBody>
      </p:sp>
      <p:sp>
        <p:nvSpPr>
          <p:cNvPr id="17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2C909F-1C80-44EF-848C-D0DA05792DC1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“A direção que estamos propondo é simples:</a:t>
            </a:r>
          </a:p>
          <a:p>
            <a:r>
              <a:rPr lang="pt-BR" sz="2000" dirty="0"/>
              <a:t>integrar o que já existe, avançar com baixo impacto de custo e preparar decisões mais estratégicas no momento certo.</a:t>
            </a:r>
          </a:p>
          <a:p>
            <a:r>
              <a:rPr lang="pt-BR" sz="2000" dirty="0"/>
              <a:t>A partir disso, estruturamos três movimentos.”                                                                         </a:t>
            </a:r>
            <a:r>
              <a:rPr lang="pt-BR" sz="2000" b="1" dirty="0"/>
              <a:t>Entre Slide 7 → 8</a:t>
            </a:r>
          </a:p>
          <a:p>
            <a:r>
              <a:rPr lang="pt-BR" sz="2000" dirty="0"/>
              <a:t>“E essa direção se traduz em três movimentos.”</a:t>
            </a:r>
          </a:p>
          <a:p>
            <a:endParaRPr lang="pt-BR" sz="2000" dirty="0"/>
          </a:p>
        </p:txBody>
      </p:sp>
      <p:sp>
        <p:nvSpPr>
          <p:cNvPr id="18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D7E159-E10E-4326-8B10-8C1D54300A0A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“As três propostas não são iniciativas isoladas — elas formam um sistema integrado.</a:t>
            </a:r>
          </a:p>
          <a:p>
            <a:r>
              <a:rPr lang="pt-BR" dirty="0"/>
              <a:t>A primeira é melhorar a visibilidade por loteamento.</a:t>
            </a:r>
          </a:p>
          <a:p>
            <a:r>
              <a:rPr lang="pt-BR" dirty="0"/>
              <a:t>Os dados já existem e as ações já acontecem.</a:t>
            </a:r>
          </a:p>
          <a:p>
            <a:r>
              <a:rPr lang="pt-BR" dirty="0"/>
              <a:t>O que pode ser aprimorado é enxergar isso de forma integrada, reduzindo retrabalho e aumentando a precisão.”                                                                                                           </a:t>
            </a:r>
            <a:r>
              <a:rPr lang="pt-BR" b="1" dirty="0"/>
              <a:t>Entre Slide 8 → 9</a:t>
            </a:r>
          </a:p>
          <a:p>
            <a:r>
              <a:rPr lang="pt-BR" dirty="0"/>
              <a:t>“O segundo movimento complementa o primeiro…”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E6BBCA9-A270-4A3C-9113-2B7A74BFACD9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8242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“A segunda proposta é padronizar conceitos e indicadores.</a:t>
            </a:r>
          </a:p>
          <a:p>
            <a:r>
              <a:rPr lang="pt-BR" dirty="0"/>
              <a:t>Hoje, cada secretaria utiliza uma linguagem.</a:t>
            </a:r>
          </a:p>
          <a:p>
            <a:r>
              <a:rPr lang="pt-BR" dirty="0"/>
              <a:t>Quando isso é alinhado, o ganho é direto: menos tempo técnico com dados e mais consistência nas análises.”                                                                                                          </a:t>
            </a:r>
            <a:r>
              <a:rPr lang="pt-BR" b="1" dirty="0"/>
              <a:t>Entre Slide 9 → 10</a:t>
            </a:r>
          </a:p>
          <a:p>
            <a:r>
              <a:rPr lang="pt-BR" dirty="0"/>
              <a:t>“E o terceiro já olha para o próximo passo…”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E6BBCA9-A270-4A3C-9113-2B7A74BFACD9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6033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“A terceira proposta é estrutural.</a:t>
            </a:r>
          </a:p>
          <a:p>
            <a:r>
              <a:rPr lang="pt-BR" dirty="0"/>
              <a:t>Organizar a base agora para permitir, no momento oportuno, integração com outras fontes e convênios.</a:t>
            </a:r>
          </a:p>
          <a:p>
            <a:r>
              <a:rPr lang="pt-BR" dirty="0"/>
              <a:t>Não é fazer agora — é se preparar bem.</a:t>
            </a:r>
          </a:p>
          <a:p>
            <a:r>
              <a:rPr lang="pt-BR" dirty="0"/>
              <a:t>E isso pode ser feito sem aumento de custo neste momento.” </a:t>
            </a:r>
            <a:r>
              <a:rPr lang="pt-BR" b="1" dirty="0"/>
              <a:t>Entre Slide 10 → 11</a:t>
            </a:r>
          </a:p>
          <a:p>
            <a:r>
              <a:rPr lang="pt-BR" dirty="0"/>
              <a:t>“Para concluir…”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9E6BBCA9-A270-4A3C-9113-2B7A74BFACD9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7844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 “Hortolândia já possui dados suficientes para agir com mais precisão.</a:t>
            </a:r>
          </a:p>
          <a:p>
            <a:r>
              <a:rPr lang="pt-BR" sz="2000" dirty="0"/>
              <a:t>O próximo passo não é ampliar coleta — é melhorar a leitura e a coordenação interna.</a:t>
            </a:r>
          </a:p>
          <a:p>
            <a:r>
              <a:rPr lang="pt-BR" sz="2000" dirty="0"/>
              <a:t>O que estamos propondo aqui é exatamente isso:</a:t>
            </a:r>
          </a:p>
          <a:p>
            <a:r>
              <a:rPr lang="pt-BR" sz="2000" dirty="0"/>
              <a:t>organizar melhor o que já existe para apoiar decisões futuras.”</a:t>
            </a:r>
          </a:p>
        </p:txBody>
      </p:sp>
      <p:sp>
        <p:nvSpPr>
          <p:cNvPr id="18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04E1C3-A778-48DB-9602-CAAEF5FC7C8A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10D1-2C15-81DF-7B6D-57FB3E1F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>
            <a:extLst>
              <a:ext uri="{FF2B5EF4-FFF2-40B4-BE49-F238E27FC236}">
                <a16:creationId xmlns:a16="http://schemas.microsoft.com/office/drawing/2014/main" id="{7BDBC46A-E771-1B92-3592-0940C6C51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>
            <a:extLst>
              <a:ext uri="{FF2B5EF4-FFF2-40B4-BE49-F238E27FC236}">
                <a16:creationId xmlns:a16="http://schemas.microsoft.com/office/drawing/2014/main" id="{846669F2-D262-6F81-8EDE-5F3DF012835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 “Hortolândia já possui dados suficientes para agir com mais precisão.</a:t>
            </a:r>
          </a:p>
          <a:p>
            <a:r>
              <a:rPr lang="pt-BR" sz="2000" dirty="0"/>
              <a:t>O próximo passo não é ampliar coleta — é melhorar a leitura e a coordenação interna.</a:t>
            </a:r>
          </a:p>
          <a:p>
            <a:r>
              <a:rPr lang="pt-BR" sz="2000" dirty="0"/>
              <a:t>O que estamos propondo aqui é exatamente isso:</a:t>
            </a:r>
          </a:p>
          <a:p>
            <a:r>
              <a:rPr lang="pt-BR" sz="2000" dirty="0"/>
              <a:t>organizar melhor o que já existe para apoiar decisões futuras.”</a:t>
            </a:r>
          </a:p>
        </p:txBody>
      </p:sp>
      <p:sp>
        <p:nvSpPr>
          <p:cNvPr id="184" name="PlaceHolder 3">
            <a:extLst>
              <a:ext uri="{FF2B5EF4-FFF2-40B4-BE49-F238E27FC236}">
                <a16:creationId xmlns:a16="http://schemas.microsoft.com/office/drawing/2014/main" id="{2565962B-9AF0-FE3E-EA7C-E30EA1C7BDEE}"/>
              </a:ext>
            </a:extLst>
          </p:cNvPr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04E1C3-A778-48DB-9602-CAAEF5FC7C8A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1608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AB85-0E50-98CE-36C0-EA701358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>
            <a:extLst>
              <a:ext uri="{FF2B5EF4-FFF2-40B4-BE49-F238E27FC236}">
                <a16:creationId xmlns:a16="http://schemas.microsoft.com/office/drawing/2014/main" id="{5A18C95D-32E9-5D90-1883-8B154FD3E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>
            <a:extLst>
              <a:ext uri="{FF2B5EF4-FFF2-40B4-BE49-F238E27FC236}">
                <a16:creationId xmlns:a16="http://schemas.microsoft.com/office/drawing/2014/main" id="{694D4485-810F-0538-3B00-79D4B4B1CFD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pt-BR" sz="2000" dirty="0"/>
              <a:t> “Hortolândia já possui dados suficientes para agir com mais precisão.</a:t>
            </a:r>
          </a:p>
          <a:p>
            <a:r>
              <a:rPr lang="pt-BR" sz="2000" dirty="0"/>
              <a:t>O próximo passo não é ampliar coleta — é melhorar a leitura e a coordenação interna.</a:t>
            </a:r>
          </a:p>
          <a:p>
            <a:r>
              <a:rPr lang="pt-BR" sz="2000" dirty="0"/>
              <a:t>O que estamos propondo aqui é exatamente isso:</a:t>
            </a:r>
          </a:p>
          <a:p>
            <a:r>
              <a:rPr lang="pt-BR" sz="2000" dirty="0"/>
              <a:t>organizar melhor o que já existe para apoiar decisões futuras.”</a:t>
            </a:r>
          </a:p>
        </p:txBody>
      </p:sp>
      <p:sp>
        <p:nvSpPr>
          <p:cNvPr id="184" name="PlaceHolder 3">
            <a:extLst>
              <a:ext uri="{FF2B5EF4-FFF2-40B4-BE49-F238E27FC236}">
                <a16:creationId xmlns:a16="http://schemas.microsoft.com/office/drawing/2014/main" id="{C67DB3B3-81C3-4055-9FB8-8C9927965AD2}"/>
              </a:ext>
            </a:extLst>
          </p:cNvPr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04E1C3-A778-48DB-9602-CAAEF5FC7C8A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1442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2579DD-8EA4-4AE2-8927-3E15C9B03A3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7B4686-2028-40E6-B65A-2348F555F549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BF8433-1284-4783-AF9A-2DF0160D1AD8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 anchorCtr="1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9E582B-58DB-4325-81FD-E860376FC44B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A32DCD-51E9-4088-ABF4-B9C2B8533D5D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os estilos de texto Mestres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DE6A93-508B-41EE-BA25-25F68F6B4E82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12E6D9-1932-493D-8F38-DFAFFBCC9883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</a:p>
        </p:txBody>
      </p:sp>
      <p:sp>
        <p:nvSpPr>
          <p:cNvPr id="40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2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D04BC7-6323-4AD2-BC3F-CBA78F61BBB8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F3A80-B933-497A-8ED8-D4E369AEA5C7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6AC3DC-F1D3-402B-9CE8-0006D9422100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F0B473-DCA2-4549-B77E-A95DCE9286BE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B24026-4E97-41B6-B3B0-D564A2DAADF4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4.svg"/><Relationship Id="rId5" Type="http://schemas.openxmlformats.org/officeDocument/2006/relationships/diagramData" Target="../diagrams/data1.xml"/><Relationship Id="rId10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6.emf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3.svg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3.svg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0" name="Imagem 5"/>
          <p:cNvPicPr/>
          <p:nvPr/>
        </p:nvPicPr>
        <p:blipFill>
          <a:blip r:embed="rId3"/>
          <a:stretch/>
        </p:blipFill>
        <p:spPr>
          <a:xfrm>
            <a:off x="-5040" y="39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CaixaDeTexto 4"/>
          <p:cNvSpPr/>
          <p:nvPr/>
        </p:nvSpPr>
        <p:spPr>
          <a:xfrm>
            <a:off x="1122840" y="432000"/>
            <a:ext cx="899928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F0F6FC"/>
                </a:solidFill>
                <a:effectLst/>
                <a:uFillTx/>
                <a:latin typeface="Mona Sans VF"/>
              </a:rPr>
              <a:t>Dados, Integração e Apoio às Políticas Públicas [Inter – Secretarias]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aixaDeTexto 7"/>
          <p:cNvSpPr/>
          <p:nvPr/>
        </p:nvSpPr>
        <p:spPr>
          <a:xfrm rot="21594000">
            <a:off x="1081440" y="1533608"/>
            <a:ext cx="10800000" cy="2368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Departamento de Informação e Análise Estatística. - 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 07 de abril de 2026 – </a:t>
            </a:r>
            <a:r>
              <a:rPr lang="pt-BR" sz="1800" b="0" u="none" strike="noStrike" dirty="0" err="1">
                <a:solidFill>
                  <a:srgbClr val="0070C0"/>
                </a:solidFill>
                <a:effectLst/>
                <a:uFillTx/>
                <a:latin typeface="Mona Sans VF"/>
              </a:rPr>
              <a:t>a.vendramini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Secretaria de Planejamento Urbano e Gestão Estratégica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Foco - </a:t>
            </a: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Atlas Social de Hortolândia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Linha de Ação </a:t>
            </a:r>
            <a:r>
              <a:rPr lang="pt-BR" sz="1800" b="1" u="sng" strike="noStrike" dirty="0">
                <a:solidFill>
                  <a:srgbClr val="7030A0"/>
                </a:solidFill>
                <a:effectLst/>
                <a:uFillTx/>
                <a:latin typeface="Aptos"/>
              </a:rPr>
              <a:t>Transversal</a:t>
            </a:r>
            <a:r>
              <a:rPr lang="pt-BR" sz="1800" b="1" u="sng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 </a:t>
            </a: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– Organizar dados </a:t>
            </a:r>
            <a:r>
              <a:rPr lang="pt-BR" b="1" dirty="0">
                <a:solidFill>
                  <a:srgbClr val="0070C0"/>
                </a:solidFill>
                <a:latin typeface="Aptos"/>
              </a:rPr>
              <a:t>já existentes </a:t>
            </a: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para apoiar com mais precisão e menor esforço operacional as políticas públicas sociais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m 73"/>
          <p:cNvPicPr/>
          <p:nvPr/>
        </p:nvPicPr>
        <p:blipFill>
          <a:blip r:embed="rId4"/>
          <a:stretch/>
        </p:blipFill>
        <p:spPr>
          <a:xfrm>
            <a:off x="1188000" y="3600000"/>
            <a:ext cx="4353120" cy="30240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EE28292-57BD-AC52-2A1B-8E5BB3D757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9268133"/>
              </p:ext>
            </p:extLst>
          </p:nvPr>
        </p:nvGraphicFramePr>
        <p:xfrm>
          <a:off x="5541120" y="3509640"/>
          <a:ext cx="4064000" cy="3151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3" name="Gráfico 2" descr="Dinheiro voador com preenchimento sólido">
            <a:extLst>
              <a:ext uri="{FF2B5EF4-FFF2-40B4-BE49-F238E27FC236}">
                <a16:creationId xmlns:a16="http://schemas.microsoft.com/office/drawing/2014/main" id="{E6540F56-D754-1E9E-852E-ED60096AB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26696" y="4700688"/>
            <a:ext cx="677424" cy="677424"/>
          </a:xfrm>
          <a:prstGeom prst="rect">
            <a:avLst/>
          </a:prstGeom>
        </p:spPr>
      </p:pic>
      <p:pic>
        <p:nvPicPr>
          <p:cNvPr id="4" name="Gráfico 3" descr="Proporção áurea com preenchimento sólido">
            <a:extLst>
              <a:ext uri="{FF2B5EF4-FFF2-40B4-BE49-F238E27FC236}">
                <a16:creationId xmlns:a16="http://schemas.microsoft.com/office/drawing/2014/main" id="{3568A0C2-FEDB-0DA0-8DFC-15498B061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43744" y="5859744"/>
            <a:ext cx="677424" cy="677424"/>
          </a:xfrm>
          <a:prstGeom prst="rect">
            <a:avLst/>
          </a:prstGeom>
        </p:spPr>
      </p:pic>
      <p:pic>
        <p:nvPicPr>
          <p:cNvPr id="5" name="Gráfico 4" descr="Rede com preenchimento sólido">
            <a:extLst>
              <a:ext uri="{FF2B5EF4-FFF2-40B4-BE49-F238E27FC236}">
                <a16:creationId xmlns:a16="http://schemas.microsoft.com/office/drawing/2014/main" id="{177766BD-5F3D-FBF9-D8AC-7EB31D3A0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17568" y="4613273"/>
            <a:ext cx="833184" cy="833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+</a:t>
            </a: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b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</a:br>
            <a:endParaRPr lang="pt-BR" sz="6000" b="0" u="none" strike="noStrike" dirty="0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7" name="Imagem 5"/>
          <p:cNvPicPr/>
          <p:nvPr/>
        </p:nvPicPr>
        <p:blipFill>
          <a:blip r:embed="rId3"/>
          <a:stretch/>
        </p:blipFill>
        <p:spPr>
          <a:xfrm>
            <a:off x="360" y="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CaixaDeTexto 4"/>
          <p:cNvSpPr/>
          <p:nvPr/>
        </p:nvSpPr>
        <p:spPr>
          <a:xfrm>
            <a:off x="1122840" y="660960"/>
            <a:ext cx="6095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Estrutura Organizacional da SMIDS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aixaDeTexto 7"/>
          <p:cNvSpPr/>
          <p:nvPr/>
        </p:nvSpPr>
        <p:spPr>
          <a:xfrm>
            <a:off x="1211039" y="1493893"/>
            <a:ext cx="10787371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Estrutura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Unidade Alvo: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Secretaria Municipal de Inclusão e Desenvolvimento Social — SMIDS [nossa célula piloto]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Nº Total de Servidores: 169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Perfil predominante da secretaria SMIDS: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Técnico e Operacional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dirty="0">
                <a:solidFill>
                  <a:srgbClr val="0070C0"/>
                </a:solidFill>
              </a:rPr>
              <a:t>Essa linha de trabalho nasce na SMIDS, mas tem aplicação direta em múltiplas secretarias</a:t>
            </a: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0987DA3-F7FF-EA95-6720-177A272FA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71943"/>
              </p:ext>
            </p:extLst>
          </p:nvPr>
        </p:nvGraphicFramePr>
        <p:xfrm>
          <a:off x="1283481" y="3714325"/>
          <a:ext cx="9544680" cy="1463040"/>
        </p:xfrm>
        <a:graphic>
          <a:graphicData uri="http://schemas.openxmlformats.org/drawingml/2006/table">
            <a:tbl>
              <a:tblPr/>
              <a:tblGrid>
                <a:gridCol w="3181560">
                  <a:extLst>
                    <a:ext uri="{9D8B030D-6E8A-4147-A177-3AD203B41FA5}">
                      <a16:colId xmlns:a16="http://schemas.microsoft.com/office/drawing/2014/main" val="1272997565"/>
                    </a:ext>
                  </a:extLst>
                </a:gridCol>
                <a:gridCol w="3181560">
                  <a:extLst>
                    <a:ext uri="{9D8B030D-6E8A-4147-A177-3AD203B41FA5}">
                      <a16:colId xmlns:a16="http://schemas.microsoft.com/office/drawing/2014/main" val="3208264216"/>
                    </a:ext>
                  </a:extLst>
                </a:gridCol>
                <a:gridCol w="3181560">
                  <a:extLst>
                    <a:ext uri="{9D8B030D-6E8A-4147-A177-3AD203B41FA5}">
                      <a16:colId xmlns:a16="http://schemas.microsoft.com/office/drawing/2014/main" val="2561705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</a:rPr>
                        <a:t>Nível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</a:rPr>
                        <a:t>Unidade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</a:rPr>
                        <a:t>Serviço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646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</a:rPr>
                        <a:t>Proteção Básica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</a:rPr>
                        <a:t>7 CRAS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</a:rPr>
                        <a:t>PAIF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300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Especial Média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CREAS + Centro POP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</a:rPr>
                        <a:t>PAEFI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094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Especial Alta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</a:rPr>
                        <a:t>OSCs conveniadas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Casos complexos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6934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D0B32D7-D2DD-EE57-C668-D7B02BDC3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840" y="3000054"/>
            <a:ext cx="628902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rgbClr val="0070C0"/>
                </a:solidFill>
                <a:latin typeface="Arial" panose="020B0604020202020204" pitchFamily="34" charset="0"/>
              </a:rPr>
              <a:t> 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 estrutura da SMIDS tem uma lógica clara de três níveis: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29B3953-425A-DD23-3DC4-B887DA0E4A62}"/>
              </a:ext>
            </a:extLst>
          </p:cNvPr>
          <p:cNvSpPr txBox="1"/>
          <p:nvPr/>
        </p:nvSpPr>
        <p:spPr>
          <a:xfrm>
            <a:off x="1283481" y="5313292"/>
            <a:ext cx="7687524" cy="92333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O número político mais poderoso do Atlas Social são os: </a:t>
            </a:r>
            <a:r>
              <a:rPr lang="pt-BR" b="1" dirty="0">
                <a:solidFill>
                  <a:schemeClr val="bg1"/>
                </a:solidFill>
              </a:rPr>
              <a:t>73.000 vulneráveis × 31.000 atendidos.</a:t>
            </a:r>
            <a:r>
              <a:rPr lang="pt-BR" dirty="0">
                <a:solidFill>
                  <a:schemeClr val="bg1"/>
                </a:solidFill>
              </a:rPr>
              <a:t> Esse gap justifica a existência de uma análise técnica e criteriosa.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2" name="Imagem 5"/>
          <p:cNvPicPr/>
          <p:nvPr/>
        </p:nvPicPr>
        <p:blipFill>
          <a:blip r:embed="rId3"/>
          <a:stretch/>
        </p:blipFill>
        <p:spPr>
          <a:xfrm>
            <a:off x="0" y="1620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CaixaDeTexto 4"/>
          <p:cNvSpPr/>
          <p:nvPr/>
        </p:nvSpPr>
        <p:spPr>
          <a:xfrm>
            <a:off x="1122840" y="660960"/>
            <a:ext cx="10796040" cy="73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chemeClr val="lt1"/>
                </a:solidFill>
                <a:effectLst/>
                <a:uFillTx/>
                <a:latin typeface="Aptos"/>
              </a:rPr>
              <a:t>Principais Atribuições do Departamento de Estatística Nessa Gênesis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ixaDeTexto 7"/>
          <p:cNvSpPr/>
          <p:nvPr/>
        </p:nvSpPr>
        <p:spPr>
          <a:xfrm>
            <a:off x="1211040" y="2455920"/>
            <a:ext cx="9769320" cy="3137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Atribuições institucionais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Análise do munícipe vulnerável no âmbito municipal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Monitoramento da vulnerabilidade social por loteamento e por núcleo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Produção de evidências técnicas para orientar a política socioassistencial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dirty="0">
                <a:solidFill>
                  <a:srgbClr val="0070C0"/>
                </a:solidFill>
                <a:latin typeface="Aptos"/>
              </a:rPr>
              <a:t>Organizar o dado existente para apoiar decisões com base em regiões, núcleos e loteamentos</a:t>
            </a: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ptos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dirty="0">
                <a:solidFill>
                  <a:srgbClr val="0070C0"/>
                </a:solidFill>
                <a:latin typeface="Aptos"/>
              </a:rPr>
              <a:t>Atuação pedagógica sobre tema tão sensível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7" name="Imagem 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CaixaDeTexto 4"/>
          <p:cNvSpPr/>
          <p:nvPr/>
        </p:nvSpPr>
        <p:spPr>
          <a:xfrm>
            <a:off x="1122840" y="660960"/>
            <a:ext cx="6095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Principais Ações em Andamento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aixaDeTexto 7"/>
          <p:cNvSpPr/>
          <p:nvPr/>
        </p:nvSpPr>
        <p:spPr>
          <a:xfrm>
            <a:off x="1122840" y="1440000"/>
            <a:ext cx="1046880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Base única organizada por Região, Núcleo e Loteamento  </a:t>
            </a:r>
            <a:endParaRPr lang="pt-BR" sz="18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dirty="0">
                <a:solidFill>
                  <a:srgbClr val="0070C0"/>
                </a:solidFill>
              </a:rPr>
              <a:t>Tratamento e organização dos dados do CadÚnico e SIGAS para análise local</a:t>
            </a: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Estruturação de indicadores locais de vulnerabilidade com referência nacional (IPEA)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Repositório documentado, </a:t>
            </a:r>
            <a:r>
              <a:rPr lang="pt-BR" sz="1800" b="0" u="none" strike="noStrike" dirty="0" err="1">
                <a:solidFill>
                  <a:srgbClr val="0070C0"/>
                </a:solidFill>
                <a:effectLst/>
                <a:uFillTx/>
                <a:latin typeface="Aptos"/>
              </a:rPr>
              <a:t>versionado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 e auditável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Articulação com a equipe do SIG e do cadastro único para integração de domínios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dirty="0">
                <a:solidFill>
                  <a:srgbClr val="0070C0"/>
                </a:solidFill>
              </a:rPr>
              <a:t>Leitura inicial da qualidade dos dados municipais para melhor direcionamento das ações</a:t>
            </a: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ptos"/>
            </a:endParaRPr>
          </a:p>
          <a:p>
            <a:pPr>
              <a:buClr>
                <a:srgbClr val="0070C0"/>
              </a:buClr>
            </a:pPr>
            <a:r>
              <a:rPr lang="pt-BR" dirty="0">
                <a:solidFill>
                  <a:srgbClr val="0070C0"/>
                </a:solidFill>
                <a:latin typeface="Aptos"/>
              </a:rPr>
              <a:t>Obs.: 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&gt;Já há uma base inicial — e ela está sendo construída de forma que outras secretarias possam utilizá-la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m 89"/>
          <p:cNvPicPr/>
          <p:nvPr/>
        </p:nvPicPr>
        <p:blipFill>
          <a:blip r:embed="rId4"/>
          <a:stretch/>
        </p:blipFill>
        <p:spPr>
          <a:xfrm>
            <a:off x="7985160" y="1296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93"/>
          <p:cNvPicPr/>
          <p:nvPr/>
        </p:nvPicPr>
        <p:blipFill>
          <a:blip r:embed="rId4"/>
          <a:stretch/>
        </p:blipFill>
        <p:spPr>
          <a:xfrm>
            <a:off x="10965600" y="336960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Imagem 94"/>
          <p:cNvPicPr/>
          <p:nvPr/>
        </p:nvPicPr>
        <p:blipFill>
          <a:blip r:embed="rId4"/>
          <a:stretch/>
        </p:blipFill>
        <p:spPr>
          <a:xfrm>
            <a:off x="10965600" y="410400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Imagem 95"/>
          <p:cNvPicPr/>
          <p:nvPr/>
        </p:nvPicPr>
        <p:blipFill>
          <a:blip r:embed="rId5"/>
          <a:stretch/>
        </p:blipFill>
        <p:spPr>
          <a:xfrm>
            <a:off x="11045160" y="4716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Estrela: 10 Pontas 1">
            <a:extLst>
              <a:ext uri="{FF2B5EF4-FFF2-40B4-BE49-F238E27FC236}">
                <a16:creationId xmlns:a16="http://schemas.microsoft.com/office/drawing/2014/main" id="{9BAA0AB9-97C7-0BCD-BEDF-1DD70029D015}"/>
              </a:ext>
            </a:extLst>
          </p:cNvPr>
          <p:cNvSpPr/>
          <p:nvPr/>
        </p:nvSpPr>
        <p:spPr>
          <a:xfrm>
            <a:off x="9578427" y="3354932"/>
            <a:ext cx="2555826" cy="855000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Geocodificação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9" name="Imagem 5"/>
          <p:cNvPicPr/>
          <p:nvPr/>
        </p:nvPicPr>
        <p:blipFill>
          <a:blip r:embed="rId3"/>
          <a:stretch/>
        </p:blipFill>
        <p:spPr>
          <a:xfrm>
            <a:off x="-3145" y="533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CaixaDeTexto 4"/>
          <p:cNvSpPr/>
          <p:nvPr/>
        </p:nvSpPr>
        <p:spPr>
          <a:xfrm>
            <a:off x="1122840" y="660960"/>
            <a:ext cx="6095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Indicadores e Resultados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ixaDeTexto 7"/>
          <p:cNvSpPr/>
          <p:nvPr/>
        </p:nvSpPr>
        <p:spPr>
          <a:xfrm>
            <a:off x="1445504" y="1572769"/>
            <a:ext cx="3398345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Primeiras entregas concretas</a:t>
            </a:r>
            <a:r>
              <a:rPr lang="pt-BR" b="1" dirty="0">
                <a:solidFill>
                  <a:srgbClr val="0070C0"/>
                </a:solidFill>
                <a:latin typeface="Aptos"/>
              </a:rPr>
              <a:t>: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Gráfico 6" descr="Seta: curva no sentido horário estrutura de tópicos">
            <a:extLst>
              <a:ext uri="{FF2B5EF4-FFF2-40B4-BE49-F238E27FC236}">
                <a16:creationId xmlns:a16="http://schemas.microsoft.com/office/drawing/2014/main" id="{CBC31FE8-A2C2-ED1E-386E-CC016C55FE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1230" y="5243733"/>
            <a:ext cx="565365" cy="565365"/>
          </a:xfrm>
          <a:prstGeom prst="rect">
            <a:avLst/>
          </a:prstGeom>
        </p:spPr>
      </p:pic>
      <p:pic>
        <p:nvPicPr>
          <p:cNvPr id="10" name="Gráfico 9" descr="Seta: curva no sentido horário estrutura de tópicos">
            <a:extLst>
              <a:ext uri="{FF2B5EF4-FFF2-40B4-BE49-F238E27FC236}">
                <a16:creationId xmlns:a16="http://schemas.microsoft.com/office/drawing/2014/main" id="{3467BEB3-93E1-9F50-9F9A-B54FB4038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8788" y="5235068"/>
            <a:ext cx="565365" cy="565365"/>
          </a:xfrm>
          <a:prstGeom prst="rect">
            <a:avLst/>
          </a:prstGeom>
        </p:spPr>
      </p:pic>
      <p:pic>
        <p:nvPicPr>
          <p:cNvPr id="11" name="Gráfico 10" descr="Seta: curva no sentido horário estrutura de tópicos">
            <a:extLst>
              <a:ext uri="{FF2B5EF4-FFF2-40B4-BE49-F238E27FC236}">
                <a16:creationId xmlns:a16="http://schemas.microsoft.com/office/drawing/2014/main" id="{0A6F2F5E-BCD5-F47A-2668-DA67945E9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4366" y="5239402"/>
            <a:ext cx="565365" cy="56536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7A5625C-B38D-163F-4FAE-38A85BB42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118" y="1676122"/>
            <a:ext cx="6316882" cy="362771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8B9A41A-5932-07D1-83DE-1BB9E57A53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8542" y="2113833"/>
            <a:ext cx="3172268" cy="9050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43716F9-FC21-1E84-088E-35257B22F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719" y="3255840"/>
            <a:ext cx="5533553" cy="15169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7" name="Imagem 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CaixaDeTexto 4"/>
          <p:cNvSpPr/>
          <p:nvPr/>
        </p:nvSpPr>
        <p:spPr>
          <a:xfrm>
            <a:off x="1122840" y="660960"/>
            <a:ext cx="6095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Principais Situações  / Problemas Identificados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aixaDeTexto 7"/>
          <p:cNvSpPr/>
          <p:nvPr/>
        </p:nvSpPr>
        <p:spPr>
          <a:xfrm>
            <a:off x="1396391" y="1473617"/>
            <a:ext cx="10144800" cy="4245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Principais Situações Identificadas</a:t>
            </a:r>
          </a:p>
          <a:p>
            <a:endParaRPr lang="pt-BR" b="1" dirty="0">
              <a:solidFill>
                <a:srgbClr val="0070C0"/>
              </a:solidFill>
            </a:endParaRPr>
          </a:p>
          <a:p>
            <a:endParaRPr lang="pt-BR" b="1" dirty="0">
              <a:solidFill>
                <a:srgbClr val="0070C0"/>
              </a:solidFill>
            </a:endParaRPr>
          </a:p>
          <a:p>
            <a:r>
              <a:rPr lang="pt-BR" b="1" dirty="0">
                <a:solidFill>
                  <a:srgbClr val="0070C0"/>
                </a:solidFill>
              </a:rPr>
              <a:t>A leitura dos eventos evidencia desafios estruturais na atuação Região-Núcleo-Loteamento:</a:t>
            </a:r>
            <a:endParaRPr lang="pt-BR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0C0"/>
                </a:solidFill>
              </a:rPr>
              <a:t>Integração ainda fragmentada entre secretarias </a:t>
            </a:r>
          </a:p>
          <a:p>
            <a:endParaRPr lang="pt-BR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0C0"/>
                </a:solidFill>
              </a:rPr>
              <a:t>Retrabalho frequente no tratamento das mesmas bases </a:t>
            </a:r>
          </a:p>
          <a:p>
            <a:endParaRPr lang="pt-BR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0C0"/>
                </a:solidFill>
              </a:rPr>
              <a:t>Dificuldade de leitura por núcleo e loteamento </a:t>
            </a:r>
          </a:p>
          <a:p>
            <a:endParaRPr lang="pt-BR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0C0"/>
                </a:solidFill>
              </a:rPr>
              <a:t>Decisões baseadas em recortes parciais </a:t>
            </a:r>
          </a:p>
          <a:p>
            <a:endParaRPr lang="pt-BR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0C0"/>
                </a:solidFill>
              </a:rPr>
              <a:t>Baixa convergência sobre a Região, Núcleo e Loteamento</a:t>
            </a: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12" name="Imagem 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aixaDeTexto 4"/>
          <p:cNvSpPr/>
          <p:nvPr/>
        </p:nvSpPr>
        <p:spPr>
          <a:xfrm>
            <a:off x="1122840" y="660960"/>
            <a:ext cx="6095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FOCO NO FUTURO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DeTexto 7"/>
          <p:cNvSpPr/>
          <p:nvPr/>
        </p:nvSpPr>
        <p:spPr>
          <a:xfrm>
            <a:off x="1122840" y="2023200"/>
            <a:ext cx="9769320" cy="3137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Direção desta linha de trabalho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Integrar o que já existe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Ampliar com baixo impacto de custo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Preparar decisões estratégicas no momento oportuno</a:t>
            </a: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endParaRPr lang="pt-BR" b="1" dirty="0">
              <a:solidFill>
                <a:srgbClr val="0070C0"/>
              </a:solidFill>
              <a:latin typeface="Aptos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endParaRPr lang="pt-BR" sz="1800" b="1" u="none" strike="noStrike" dirty="0">
              <a:solidFill>
                <a:srgbClr val="0070C0"/>
              </a:solidFill>
              <a:effectLst/>
              <a:uFillTx/>
              <a:latin typeface="Aptos"/>
            </a:endParaRPr>
          </a:p>
          <a:p>
            <a:pPr>
              <a:buClr>
                <a:srgbClr val="0070C0"/>
              </a:buClr>
            </a:pPr>
            <a:r>
              <a:rPr lang="pt-BR" dirty="0">
                <a:solidFill>
                  <a:srgbClr val="0070C0"/>
                </a:solidFill>
              </a:rPr>
              <a:t>     “A partir disso, estruturamos três movimentos simples.”</a:t>
            </a: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m 114"/>
          <p:cNvPicPr/>
          <p:nvPr/>
        </p:nvPicPr>
        <p:blipFill>
          <a:blip r:embed="rId4"/>
          <a:stretch/>
        </p:blipFill>
        <p:spPr>
          <a:xfrm>
            <a:off x="10433160" y="3672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Imagem 115"/>
          <p:cNvPicPr/>
          <p:nvPr/>
        </p:nvPicPr>
        <p:blipFill>
          <a:blip r:embed="rId5"/>
          <a:stretch/>
        </p:blipFill>
        <p:spPr>
          <a:xfrm>
            <a:off x="10685160" y="2340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Gráfico 1" descr="Dinheiro voador com preenchimento sólido">
            <a:extLst>
              <a:ext uri="{FF2B5EF4-FFF2-40B4-BE49-F238E27FC236}">
                <a16:creationId xmlns:a16="http://schemas.microsoft.com/office/drawing/2014/main" id="{95A4F0DD-F2FC-9A49-42C1-1F775063BD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6088" y="1847760"/>
            <a:ext cx="677424" cy="677424"/>
          </a:xfrm>
          <a:prstGeom prst="rect">
            <a:avLst/>
          </a:prstGeom>
        </p:spPr>
      </p:pic>
      <p:pic>
        <p:nvPicPr>
          <p:cNvPr id="3" name="Gráfico 2" descr="Proporção áurea com preenchimento sólido">
            <a:extLst>
              <a:ext uri="{FF2B5EF4-FFF2-40B4-BE49-F238E27FC236}">
                <a16:creationId xmlns:a16="http://schemas.microsoft.com/office/drawing/2014/main" id="{5DC33E9F-AAFF-04C4-443D-65AC70E41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5632" y="1836384"/>
            <a:ext cx="677424" cy="677424"/>
          </a:xfrm>
          <a:prstGeom prst="rect">
            <a:avLst/>
          </a:prstGeom>
        </p:spPr>
      </p:pic>
      <p:pic>
        <p:nvPicPr>
          <p:cNvPr id="5" name="Gráfico 4" descr="Rede com preenchimento sólido">
            <a:extLst>
              <a:ext uri="{FF2B5EF4-FFF2-40B4-BE49-F238E27FC236}">
                <a16:creationId xmlns:a16="http://schemas.microsoft.com/office/drawing/2014/main" id="{E5B4062C-1BA5-51F4-4CD0-F8B5C2FEF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5176" y="1791541"/>
            <a:ext cx="833184" cy="833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20" name="Imagem 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CaixaDeTexto 4"/>
          <p:cNvSpPr/>
          <p:nvPr/>
        </p:nvSpPr>
        <p:spPr>
          <a:xfrm>
            <a:off x="1122840" y="660960"/>
            <a:ext cx="60955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400" b="1" u="none" strike="noStrike" dirty="0">
                <a:solidFill>
                  <a:srgbClr val="F0F6FC"/>
                </a:solidFill>
                <a:effectLst/>
                <a:uFillTx/>
                <a:latin typeface="Mona Sans VF"/>
              </a:rPr>
              <a:t>PROPOSTA 1  (3 em 1)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ixaDeTexto 7"/>
          <p:cNvSpPr/>
          <p:nvPr/>
        </p:nvSpPr>
        <p:spPr>
          <a:xfrm>
            <a:off x="1266840" y="1393920"/>
            <a:ext cx="9769320" cy="4245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Proposta 1 — o que pode ser aprimorado é a visibilidade integrada por loteamento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Descrição: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Organização dos dados do CadÚnico em uma estrutura analítica por núcleo, vinculada aos loteamentos e aos CRAS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Desafio / Oportunidade: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 </a:t>
            </a:r>
            <a:r>
              <a:rPr lang="pt-BR" dirty="0">
                <a:solidFill>
                  <a:srgbClr val="0070C0"/>
                </a:solidFill>
              </a:rPr>
              <a:t>Os dados já existem e as ações já acontecem.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>
                <a:solidFill>
                  <a:srgbClr val="0070C0"/>
                </a:solidFill>
              </a:rPr>
              <a:t>O que pode ser aprimorado é a visibilidade integrada por loteamento, reduzindo retrabalho e aumentando a precisão das ações</a:t>
            </a: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Ganhos Esperados: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      </a:t>
            </a:r>
            <a:r>
              <a:rPr lang="pt-BR" dirty="0">
                <a:solidFill>
                  <a:srgbClr val="0070C0"/>
                </a:solidFill>
              </a:rPr>
              <a:t>Melhor direcionamento das ações nas regiões, núcleos e loteamentos 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>
                <a:solidFill>
                  <a:srgbClr val="0070C0"/>
                </a:solidFill>
              </a:rPr>
              <a:t>     Base técnica para priorização de políticas públicas</a:t>
            </a:r>
          </a:p>
          <a:p>
            <a:r>
              <a:rPr lang="pt-BR" dirty="0"/>
              <a:t> 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        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Viabilidade: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Aproveitamento integral de dados já disponíveis. Sem dependência de novos sistemas ou contratações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m 124"/>
          <p:cNvPicPr/>
          <p:nvPr/>
        </p:nvPicPr>
        <p:blipFill>
          <a:blip r:embed="rId4"/>
          <a:stretch/>
        </p:blipFill>
        <p:spPr>
          <a:xfrm>
            <a:off x="5681160" y="5616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Gráfico 1" descr="Dinheiro voador com preenchimento sólido">
            <a:extLst>
              <a:ext uri="{FF2B5EF4-FFF2-40B4-BE49-F238E27FC236}">
                <a16:creationId xmlns:a16="http://schemas.microsoft.com/office/drawing/2014/main" id="{B9625404-0FCC-61A5-6F5D-8C5AD2942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0312" y="2676816"/>
            <a:ext cx="677424" cy="677424"/>
          </a:xfrm>
          <a:prstGeom prst="rect">
            <a:avLst/>
          </a:prstGeom>
        </p:spPr>
      </p:pic>
      <p:pic>
        <p:nvPicPr>
          <p:cNvPr id="3" name="Gráfico 2" descr="Proporção áurea com preenchimento sólido">
            <a:extLst>
              <a:ext uri="{FF2B5EF4-FFF2-40B4-BE49-F238E27FC236}">
                <a16:creationId xmlns:a16="http://schemas.microsoft.com/office/drawing/2014/main" id="{B743FD6F-4FDB-A8B3-B222-0967D4AD4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8160" y="4140672"/>
            <a:ext cx="677424" cy="677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31" name="Imagem 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CaixaDeTexto 4"/>
          <p:cNvSpPr/>
          <p:nvPr/>
        </p:nvSpPr>
        <p:spPr>
          <a:xfrm>
            <a:off x="1122840" y="660960"/>
            <a:ext cx="60955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400" b="1" u="none" strike="noStrike" dirty="0">
                <a:solidFill>
                  <a:srgbClr val="F0F6FC"/>
                </a:solidFill>
                <a:effectLst/>
                <a:uFillTx/>
                <a:latin typeface="Mona Sans VF"/>
              </a:rPr>
              <a:t>PROPOSTA 2  (3 em 1)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aixaDeTexto 7"/>
          <p:cNvSpPr/>
          <p:nvPr/>
        </p:nvSpPr>
        <p:spPr>
          <a:xfrm>
            <a:off x="1230840" y="1393920"/>
            <a:ext cx="9769320" cy="36918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Proposta 2 — Redução do Esforço Operacional Duplicado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Descrição: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</a:t>
            </a:r>
            <a:r>
              <a:rPr lang="pt-BR" dirty="0">
                <a:solidFill>
                  <a:srgbClr val="0070C0"/>
                </a:solidFill>
              </a:rPr>
              <a:t>Padronização de conceitos, indicadores e recortes por regiões, núcleos e loteamentos</a:t>
            </a: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Desafio / Oportunidade: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</a:t>
            </a:r>
            <a:r>
              <a:rPr lang="pt-BR" dirty="0">
                <a:solidFill>
                  <a:srgbClr val="0070C0"/>
                </a:solidFill>
              </a:rPr>
              <a:t>Linguagem comum entre secretarias </a:t>
            </a:r>
          </a:p>
          <a:p>
            <a:pPr>
              <a:buClr>
                <a:srgbClr val="0070C0"/>
              </a:buClr>
            </a:pP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Ganhos Esperados: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       </a:t>
            </a:r>
            <a:r>
              <a:rPr lang="pt-BR" dirty="0">
                <a:solidFill>
                  <a:srgbClr val="0070C0"/>
                </a:solidFill>
              </a:rPr>
              <a:t>Menor tempo técnico gasto com dados 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>
                <a:solidFill>
                  <a:srgbClr val="0070C0"/>
                </a:solidFill>
              </a:rPr>
              <a:t>     Relatórios mais consistentes e comparáveis </a:t>
            </a:r>
          </a:p>
          <a:p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Viabilidade: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Esse esforço só faz sentido se for útil para as secretarias — e deve partir obrigatoriamente das necessidades que elas já têm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m 133"/>
          <p:cNvPicPr/>
          <p:nvPr/>
        </p:nvPicPr>
        <p:blipFill>
          <a:blip r:embed="rId4"/>
          <a:stretch/>
        </p:blipFill>
        <p:spPr>
          <a:xfrm>
            <a:off x="7877160" y="3708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Imagem 138"/>
          <p:cNvPicPr/>
          <p:nvPr/>
        </p:nvPicPr>
        <p:blipFill>
          <a:blip r:embed="rId4"/>
          <a:stretch/>
        </p:blipFill>
        <p:spPr>
          <a:xfrm>
            <a:off x="8163000" y="5374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Gráfico 1" descr="Dinheiro voador com preenchimento sólido">
            <a:extLst>
              <a:ext uri="{FF2B5EF4-FFF2-40B4-BE49-F238E27FC236}">
                <a16:creationId xmlns:a16="http://schemas.microsoft.com/office/drawing/2014/main" id="{93BDD4DA-9956-6B71-BF75-8BFD7640B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8184" y="3579024"/>
            <a:ext cx="677424" cy="677424"/>
          </a:xfrm>
          <a:prstGeom prst="rect">
            <a:avLst/>
          </a:prstGeom>
        </p:spPr>
      </p:pic>
      <p:pic>
        <p:nvPicPr>
          <p:cNvPr id="3" name="Gráfico 2" descr="Proporção áurea com preenchimento sólido">
            <a:extLst>
              <a:ext uri="{FF2B5EF4-FFF2-40B4-BE49-F238E27FC236}">
                <a16:creationId xmlns:a16="http://schemas.microsoft.com/office/drawing/2014/main" id="{68CC308C-0463-D756-94A3-BCF396D33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6224" y="2580096"/>
            <a:ext cx="677424" cy="677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42" name="Imagem 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CaixaDeTexto 4"/>
          <p:cNvSpPr/>
          <p:nvPr/>
        </p:nvSpPr>
        <p:spPr>
          <a:xfrm>
            <a:off x="1122840" y="660960"/>
            <a:ext cx="60955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400" b="1" u="none" strike="noStrike" dirty="0">
                <a:solidFill>
                  <a:srgbClr val="F0F6FC"/>
                </a:solidFill>
                <a:effectLst/>
                <a:uFillTx/>
                <a:latin typeface="Mona Sans VF"/>
              </a:rPr>
              <a:t>Proposta 3 (3 em 1)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CaixaDeTexto 7"/>
          <p:cNvSpPr/>
          <p:nvPr/>
        </p:nvSpPr>
        <p:spPr>
          <a:xfrm>
            <a:off x="870840" y="1360080"/>
            <a:ext cx="9769320" cy="45228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        Proposta 3 — Estrutura Preparada para Crescimento Futuro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Descrição: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</a:t>
            </a:r>
            <a:r>
              <a:rPr lang="pt-BR" dirty="0">
                <a:solidFill>
                  <a:srgbClr val="0070C0"/>
                </a:solidFill>
              </a:rPr>
              <a:t>Estruturação da base de dados para permitir, no momento oportuno, integração com outras fontes institucionais</a:t>
            </a: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Desafio / Oportunidade: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</a:t>
            </a:r>
            <a:r>
              <a:rPr lang="pt-BR" dirty="0">
                <a:solidFill>
                  <a:srgbClr val="0070C0"/>
                </a:solidFill>
              </a:rPr>
              <a:t>Municípios que organizam sua base hoje ficam mais preparados para acessar convênios e parcerias futuras</a:t>
            </a: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Ganhos Esperados: </a:t>
            </a:r>
            <a:r>
              <a:rPr lang="pt-BR" dirty="0">
                <a:solidFill>
                  <a:srgbClr val="0070C0"/>
                </a:solidFill>
              </a:rPr>
              <a:t>Potencial de acesso a convênios e integrações com Estado e União </a:t>
            </a:r>
            <a:br>
              <a:rPr lang="pt-BR" dirty="0">
                <a:solidFill>
                  <a:srgbClr val="0070C0"/>
                </a:solidFill>
              </a:rPr>
            </a:br>
            <a:endParaRPr lang="pt-BR" dirty="0">
              <a:solidFill>
                <a:srgbClr val="0070C0"/>
              </a:solidFill>
            </a:endParaRPr>
          </a:p>
          <a:p>
            <a:pPr>
              <a:buClr>
                <a:srgbClr val="0070C0"/>
              </a:buClr>
            </a:pPr>
            <a:r>
              <a:rPr lang="pt-BR" dirty="0">
                <a:solidFill>
                  <a:srgbClr val="0070C0"/>
                </a:solidFill>
              </a:rPr>
              <a:t>     Preparação feita sem aumento de custo na fase atual </a:t>
            </a:r>
            <a:br>
              <a:rPr lang="pt-BR" dirty="0">
                <a:solidFill>
                  <a:srgbClr val="0070C0"/>
                </a:solidFill>
              </a:rPr>
            </a:br>
            <a:endParaRPr lang="pt-BR" dirty="0">
              <a:solidFill>
                <a:srgbClr val="0070C0"/>
              </a:solidFill>
            </a:endParaRPr>
          </a:p>
          <a:p>
            <a:pPr>
              <a:buClr>
                <a:srgbClr val="0070C0"/>
              </a:buClr>
            </a:pPr>
            <a:r>
              <a:rPr lang="pt-BR" dirty="0">
                <a:solidFill>
                  <a:srgbClr val="0070C0"/>
                </a:solidFill>
              </a:rPr>
              <a:t>      Escalabilidade para outras áreas da Prefeitura </a:t>
            </a: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     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70C0"/>
              </a:buClr>
              <a:buFont typeface="Arial"/>
              <a:buChar char="•"/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Viabilidade:</a:t>
            </a:r>
            <a:r>
              <a:rPr lang="pt-BR" sz="1800" b="0" u="none" strike="noStrike" dirty="0">
                <a:solidFill>
                  <a:srgbClr val="0070C0"/>
                </a:solidFill>
                <a:effectLst/>
                <a:uFillTx/>
                <a:latin typeface="Aptos"/>
              </a:rPr>
              <a:t> </a:t>
            </a:r>
            <a:r>
              <a:rPr lang="pt-BR" dirty="0">
                <a:solidFill>
                  <a:srgbClr val="0070C0"/>
                </a:solidFill>
              </a:rPr>
              <a:t>Estrutura incremental, construída sobre o que já existe, sem impacto financeiro imediato</a:t>
            </a:r>
            <a:endParaRPr lang="pt-BR" sz="18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m 144"/>
          <p:cNvPicPr/>
          <p:nvPr/>
        </p:nvPicPr>
        <p:blipFill>
          <a:blip r:embed="rId4"/>
          <a:stretch/>
        </p:blipFill>
        <p:spPr>
          <a:xfrm>
            <a:off x="10721160" y="2664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Imagem 145"/>
          <p:cNvPicPr/>
          <p:nvPr/>
        </p:nvPicPr>
        <p:blipFill>
          <a:blip r:embed="rId4"/>
          <a:stretch/>
        </p:blipFill>
        <p:spPr>
          <a:xfrm>
            <a:off x="9389160" y="3780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Imagem 146"/>
          <p:cNvPicPr/>
          <p:nvPr/>
        </p:nvPicPr>
        <p:blipFill>
          <a:blip r:embed="rId5"/>
          <a:stretch/>
        </p:blipFill>
        <p:spPr>
          <a:xfrm>
            <a:off x="10145160" y="518472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Imagem 147"/>
          <p:cNvPicPr/>
          <p:nvPr/>
        </p:nvPicPr>
        <p:blipFill>
          <a:blip r:embed="rId5"/>
          <a:stretch/>
        </p:blipFill>
        <p:spPr>
          <a:xfrm>
            <a:off x="10431000" y="4006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Imagem 149"/>
          <p:cNvPicPr/>
          <p:nvPr/>
        </p:nvPicPr>
        <p:blipFill>
          <a:blip r:embed="rId5"/>
          <a:stretch/>
        </p:blipFill>
        <p:spPr>
          <a:xfrm>
            <a:off x="8307000" y="4762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Gráfico 1" descr="Dinheiro voador com preenchimento sólido">
            <a:extLst>
              <a:ext uri="{FF2B5EF4-FFF2-40B4-BE49-F238E27FC236}">
                <a16:creationId xmlns:a16="http://schemas.microsoft.com/office/drawing/2014/main" id="{0BC0BBE9-EB98-24A7-C036-0C6B627412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6264" y="3969168"/>
            <a:ext cx="677424" cy="677424"/>
          </a:xfrm>
          <a:prstGeom prst="rect">
            <a:avLst/>
          </a:prstGeom>
        </p:spPr>
      </p:pic>
      <p:pic>
        <p:nvPicPr>
          <p:cNvPr id="3" name="Gráfico 2" descr="Dinheiro voador com preenchimento sólido">
            <a:extLst>
              <a:ext uri="{FF2B5EF4-FFF2-40B4-BE49-F238E27FC236}">
                <a16:creationId xmlns:a16="http://schemas.microsoft.com/office/drawing/2014/main" id="{B358B6B6-1561-B717-8278-4E474924C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51320" y="5438304"/>
            <a:ext cx="677424" cy="677424"/>
          </a:xfrm>
          <a:prstGeom prst="rect">
            <a:avLst/>
          </a:prstGeom>
        </p:spPr>
      </p:pic>
      <p:pic>
        <p:nvPicPr>
          <p:cNvPr id="4" name="Gráfico 3" descr="Rede com preenchimento sólido">
            <a:extLst>
              <a:ext uri="{FF2B5EF4-FFF2-40B4-BE49-F238E27FC236}">
                <a16:creationId xmlns:a16="http://schemas.microsoft.com/office/drawing/2014/main" id="{82580024-59BA-FF9F-F7FB-3C21E2253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8808" y="3339925"/>
            <a:ext cx="833184" cy="833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53" name="Imagem 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CaixaDeTexto 4"/>
          <p:cNvSpPr/>
          <p:nvPr/>
        </p:nvSpPr>
        <p:spPr>
          <a:xfrm>
            <a:off x="1122840" y="660960"/>
            <a:ext cx="60955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F0F6FC"/>
                </a:solidFill>
                <a:effectLst/>
                <a:uFillTx/>
                <a:latin typeface="Mona Sans VF"/>
              </a:rPr>
              <a:t>Encerramento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aixaDeTexto 7"/>
          <p:cNvSpPr/>
          <p:nvPr/>
        </p:nvSpPr>
        <p:spPr>
          <a:xfrm>
            <a:off x="1211040" y="1571468"/>
            <a:ext cx="9769320" cy="34148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pt-BR" b="1" dirty="0">
              <a:solidFill>
                <a:srgbClr val="0070C0"/>
              </a:solidFill>
              <a:latin typeface="Aptos"/>
            </a:endParaRPr>
          </a:p>
          <a:p>
            <a:r>
              <a:rPr lang="pt-BR" b="1" dirty="0">
                <a:solidFill>
                  <a:srgbClr val="0070C0"/>
                </a:solidFill>
              </a:rPr>
              <a:t>Hortolândia já possui dados suficientes para agir com mais precisão.</a:t>
            </a:r>
            <a:br>
              <a:rPr lang="pt-BR" b="1" dirty="0">
                <a:solidFill>
                  <a:srgbClr val="0070C0"/>
                </a:solidFill>
              </a:rPr>
            </a:br>
            <a:r>
              <a:rPr lang="pt-BR" b="1" dirty="0">
                <a:solidFill>
                  <a:srgbClr val="0070C0"/>
                </a:solidFill>
              </a:rPr>
              <a:t>O próximo passo não é ampliar coleta — é melhorar a leitura e a coordenação interna.</a:t>
            </a:r>
            <a:br>
              <a:rPr lang="pt-BR" b="1" dirty="0">
                <a:solidFill>
                  <a:srgbClr val="0070C0"/>
                </a:solidFill>
              </a:rPr>
            </a:br>
            <a:r>
              <a:rPr lang="pt-BR" b="1" dirty="0">
                <a:solidFill>
                  <a:srgbClr val="0070C0"/>
                </a:solidFill>
              </a:rPr>
              <a:t>O que estamos propondo aqui é justamente isso.</a:t>
            </a:r>
          </a:p>
          <a:p>
            <a:endParaRPr lang="pt-BR" b="1" dirty="0">
              <a:solidFill>
                <a:srgbClr val="0070C0"/>
              </a:solidFill>
              <a:latin typeface="Aptos"/>
            </a:endParaRPr>
          </a:p>
          <a:p>
            <a:r>
              <a:rPr lang="pt-BR" b="1" dirty="0">
                <a:solidFill>
                  <a:srgbClr val="0070C0"/>
                </a:solidFill>
                <a:latin typeface="Aptos"/>
              </a:rPr>
              <a:t>O caminho não é coletar mais dados — é organizar melhor o que já existe</a:t>
            </a:r>
          </a:p>
          <a:p>
            <a:endParaRPr lang="pt-BR" b="1" dirty="0">
              <a:solidFill>
                <a:srgbClr val="0070C0"/>
              </a:solidFill>
              <a:latin typeface="Aptos"/>
            </a:endParaRPr>
          </a:p>
          <a:p>
            <a:r>
              <a:rPr lang="pt-BR" b="1" dirty="0">
                <a:solidFill>
                  <a:srgbClr val="0070C0"/>
                </a:solidFill>
                <a:latin typeface="Aptos"/>
              </a:rPr>
              <a:t>Essa linha de trabalho é um movimento inicial, construído para apoiar as secretarias sem alterar suas rotinas</a:t>
            </a:r>
          </a:p>
          <a:p>
            <a:pPr lvl="4"/>
            <a:r>
              <a:rPr lang="pt-BR" b="1" dirty="0">
                <a:solidFill>
                  <a:srgbClr val="0070C0"/>
                </a:solidFill>
                <a:latin typeface="Aptos"/>
              </a:rPr>
              <a:t>→ Permite avançar com mais precisão  </a:t>
            </a:r>
          </a:p>
          <a:p>
            <a:pPr lvl="4"/>
            <a:r>
              <a:rPr lang="pt-BR" b="1" dirty="0">
                <a:solidFill>
                  <a:srgbClr val="0070C0"/>
                </a:solidFill>
                <a:latin typeface="Aptos"/>
              </a:rPr>
              <a:t>→ Melhor uso do tempo técnico  </a:t>
            </a:r>
          </a:p>
          <a:p>
            <a:pPr lvl="4"/>
            <a:r>
              <a:rPr lang="pt-BR" b="1" dirty="0">
                <a:solidFill>
                  <a:srgbClr val="0070C0"/>
                </a:solidFill>
                <a:latin typeface="Aptos"/>
              </a:rPr>
              <a:t>→ Base para decisões futuras</a:t>
            </a:r>
          </a:p>
        </p:txBody>
      </p:sp>
      <p:sp>
        <p:nvSpPr>
          <p:cNvPr id="156" name="CaixaDeTexto 6"/>
          <p:cNvSpPr/>
          <p:nvPr/>
        </p:nvSpPr>
        <p:spPr>
          <a:xfrm>
            <a:off x="1320480" y="5098722"/>
            <a:ext cx="9544680" cy="65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Muito Obrigado.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 dirty="0" err="1">
                <a:solidFill>
                  <a:srgbClr val="0070C0"/>
                </a:solidFill>
                <a:effectLst/>
                <a:uFillTx/>
                <a:latin typeface="Mona Sans VF"/>
              </a:rPr>
              <a:t>a.vendramini</a:t>
            </a:r>
            <a:r>
              <a:rPr lang="pt-BR" sz="900" b="0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 07_04_2026</a:t>
            </a:r>
            <a:endParaRPr lang="pt-B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m 156"/>
          <p:cNvPicPr/>
          <p:nvPr/>
        </p:nvPicPr>
        <p:blipFill>
          <a:blip r:embed="rId4"/>
          <a:stretch/>
        </p:blipFill>
        <p:spPr>
          <a:xfrm>
            <a:off x="10901160" y="2755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Imagem 157"/>
          <p:cNvPicPr/>
          <p:nvPr/>
        </p:nvPicPr>
        <p:blipFill>
          <a:blip r:embed="rId5"/>
          <a:stretch/>
        </p:blipFill>
        <p:spPr>
          <a:xfrm>
            <a:off x="10865160" y="1459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Imagem 159"/>
          <p:cNvPicPr/>
          <p:nvPr/>
        </p:nvPicPr>
        <p:blipFill>
          <a:blip r:embed="rId5"/>
          <a:stretch/>
        </p:blipFill>
        <p:spPr>
          <a:xfrm>
            <a:off x="2375280" y="4059000"/>
            <a:ext cx="914400" cy="914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4921F-FB64-6B49-E84E-6E211D819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2833D7FE-8930-8E3C-E19D-B34D60C6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B5ACAEA8-9319-FAF8-F609-1AE8159265D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53" name="Imagem 5">
            <a:extLst>
              <a:ext uri="{FF2B5EF4-FFF2-40B4-BE49-F238E27FC236}">
                <a16:creationId xmlns:a16="http://schemas.microsoft.com/office/drawing/2014/main" id="{9FB2445C-F2E6-BA7F-CE81-E89155FA129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96EA43FC-F090-1D15-742F-4BBB1C1F2FF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901160" y="2755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C00CB43-99C1-D30C-ED2E-594135947659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0865160" y="1459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7FCB5045-C28A-5EF8-4B07-F9CC47747C5E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5280" y="405900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BFA50EF-8B4D-3F7F-2EE0-61E49398605F}"/>
              </a:ext>
            </a:extLst>
          </p:cNvPr>
          <p:cNvSpPr/>
          <p:nvPr/>
        </p:nvSpPr>
        <p:spPr>
          <a:xfrm>
            <a:off x="2020899" y="2351700"/>
            <a:ext cx="8727441" cy="2599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SLIDES EXTRAS</a:t>
            </a:r>
          </a:p>
        </p:txBody>
      </p:sp>
    </p:spTree>
    <p:extLst>
      <p:ext uri="{BB962C8B-B14F-4D97-AF65-F5344CB8AC3E}">
        <p14:creationId xmlns:p14="http://schemas.microsoft.com/office/powerpoint/2010/main" val="279411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7FD0-4539-0CCA-7E39-02C1E0CD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09C9541D-5A78-400E-8900-DF824F0B3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846A9DB7-F9B3-3074-1AEF-15FD5D242FE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53" name="Imagem 5">
            <a:extLst>
              <a:ext uri="{FF2B5EF4-FFF2-40B4-BE49-F238E27FC236}">
                <a16:creationId xmlns:a16="http://schemas.microsoft.com/office/drawing/2014/main" id="{0A0593C7-43D5-1B4C-7C31-DC24651D69B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C5DF3FC4-F233-6F89-78B7-F25D3F62CF2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901160" y="2755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0EF97E53-9786-8343-9FC4-51CD4611E314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0865160" y="1459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D0391092-F37B-78EB-7992-C2FCCE8D9D7D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5280" y="405900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25D0041-1CC7-FC98-F92F-3E362D72ED23}"/>
              </a:ext>
            </a:extLst>
          </p:cNvPr>
          <p:cNvSpPr/>
          <p:nvPr/>
        </p:nvSpPr>
        <p:spPr>
          <a:xfrm>
            <a:off x="2020899" y="2351700"/>
            <a:ext cx="8727441" cy="2599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PADRONIZAÇÃO + PARCERIAS = REDUÇÃO DE CUSTOS</a:t>
            </a:r>
          </a:p>
        </p:txBody>
      </p:sp>
    </p:spTree>
    <p:extLst>
      <p:ext uri="{BB962C8B-B14F-4D97-AF65-F5344CB8AC3E}">
        <p14:creationId xmlns:p14="http://schemas.microsoft.com/office/powerpoint/2010/main" val="2025985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53" name="Imagem 5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CaixaDeTexto 4"/>
          <p:cNvSpPr/>
          <p:nvPr/>
        </p:nvSpPr>
        <p:spPr>
          <a:xfrm>
            <a:off x="1122840" y="660960"/>
            <a:ext cx="60955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F0F6FC"/>
                </a:solidFill>
                <a:effectLst/>
                <a:uFillTx/>
                <a:latin typeface="Mona Sans VF"/>
              </a:rPr>
              <a:t>Onde estamos — e o que está pendente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aixaDeTexto 7"/>
          <p:cNvSpPr/>
          <p:nvPr/>
        </p:nvSpPr>
        <p:spPr>
          <a:xfrm>
            <a:off x="1211040" y="1571468"/>
            <a:ext cx="9769320" cy="34148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pt-BR" b="1" dirty="0">
              <a:solidFill>
                <a:srgbClr val="0070C0"/>
              </a:solidFill>
              <a:latin typeface="Aptos"/>
            </a:endParaRPr>
          </a:p>
          <a:p>
            <a:r>
              <a:rPr lang="pt-BR" sz="1600" b="1" dirty="0">
                <a:solidFill>
                  <a:srgbClr val="1F7A1F"/>
                </a:solidFill>
                <a:latin typeface="Aptos"/>
              </a:rPr>
              <a:t>✔ Em andamento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• Base CadÚnico dez/2025 estruturada e em processamento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• Metodologia IVS-H alinhada ao IPEA — primeiro indicador calculado (RT_01 = 60,5%)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• Repositório técnico documentado, versionado e auditável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• Corpus jornalístico estruturado — leitura territorial em andamento</a:t>
            </a:r>
          </a:p>
          <a:p>
            <a:endParaRPr lang="pt-BR" dirty="0"/>
          </a:p>
          <a:p>
            <a:r>
              <a:rPr lang="pt-BR" sz="1600" b="1" dirty="0">
                <a:solidFill>
                  <a:srgbClr val="C00000"/>
                </a:solidFill>
                <a:latin typeface="Aptos"/>
              </a:rPr>
              <a:t>⏸ Pendente de desbloqueio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• Acesso estruturado ao SIGAS — sistema já contratado, sem API disponível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• Convênios federais — CadÚnico/MDS, SIBEC, CAGED, INEP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• Parceria intersecretarial formalizada — Saúde, Educação, Desenvolvimento Econômico, Fazenda</a:t>
            </a:r>
          </a:p>
        </p:txBody>
      </p:sp>
      <p:sp>
        <p:nvSpPr>
          <p:cNvPr id="156" name="CaixaDeTexto 6"/>
          <p:cNvSpPr/>
          <p:nvPr/>
        </p:nvSpPr>
        <p:spPr>
          <a:xfrm>
            <a:off x="1320480" y="5098722"/>
            <a:ext cx="9544680" cy="65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 dirty="0" err="1">
                <a:solidFill>
                  <a:srgbClr val="0070C0"/>
                </a:solidFill>
                <a:effectLst/>
                <a:uFillTx/>
                <a:latin typeface="Mona Sans VF"/>
              </a:rPr>
              <a:t>a.vendramini</a:t>
            </a:r>
            <a:r>
              <a:rPr lang="pt-BR" sz="900" b="0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 07_04_2026</a:t>
            </a:r>
            <a:endParaRPr lang="pt-B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m 156"/>
          <p:cNvPicPr/>
          <p:nvPr/>
        </p:nvPicPr>
        <p:blipFill>
          <a:blip r:embed="rId3"/>
          <a:stretch/>
        </p:blipFill>
        <p:spPr>
          <a:xfrm>
            <a:off x="10901160" y="2755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Imagem 157"/>
          <p:cNvPicPr/>
          <p:nvPr/>
        </p:nvPicPr>
        <p:blipFill>
          <a:blip r:embed="rId4"/>
          <a:stretch/>
        </p:blipFill>
        <p:spPr>
          <a:xfrm>
            <a:off x="10865160" y="1459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Imagem 159"/>
          <p:cNvPicPr/>
          <p:nvPr/>
        </p:nvPicPr>
        <p:blipFill>
          <a:blip r:embed="rId4"/>
          <a:stretch/>
        </p:blipFill>
        <p:spPr>
          <a:xfrm>
            <a:off x="2375280" y="4059000"/>
            <a:ext cx="914400" cy="914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endParaRPr lang="pt-BR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53" name="Imagem 5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CaixaDeTexto 4"/>
          <p:cNvSpPr/>
          <p:nvPr/>
        </p:nvSpPr>
        <p:spPr>
          <a:xfrm>
            <a:off x="1122840" y="660960"/>
            <a:ext cx="60955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F0F6FC"/>
                </a:solidFill>
                <a:effectLst/>
                <a:uFillTx/>
                <a:latin typeface="Mona Sans VF"/>
              </a:rPr>
              <a:t>Condições de Avanço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aixaDeTexto 7"/>
          <p:cNvSpPr/>
          <p:nvPr/>
        </p:nvSpPr>
        <p:spPr>
          <a:xfrm>
            <a:off x="1211040" y="1571468"/>
            <a:ext cx="9769320" cy="34148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pt-BR" b="1" dirty="0">
              <a:solidFill>
                <a:srgbClr val="0070C0"/>
              </a:solidFill>
              <a:latin typeface="Aptos"/>
            </a:endParaRPr>
          </a:p>
          <a:p>
            <a:r>
              <a:rPr lang="pt-BR" sz="1600" b="1" dirty="0">
                <a:solidFill>
                  <a:srgbClr val="C00000"/>
                </a:solidFill>
                <a:latin typeface="Aptos"/>
              </a:rPr>
              <a:t>1. Acesso ao SIGAS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O município já paga pelo sistema. Os dados pertencem à prefeitura.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Exigir do subfornecedor API ou exportação periódica documentada — direito contratual vigente.</a:t>
            </a:r>
          </a:p>
          <a:p>
            <a:endParaRPr lang="pt-BR" dirty="0"/>
          </a:p>
          <a:p>
            <a:r>
              <a:rPr lang="pt-BR" sz="1600" b="1" dirty="0">
                <a:solidFill>
                  <a:srgbClr val="C49A2A"/>
                </a:solidFill>
                <a:latin typeface="Aptos"/>
              </a:rPr>
              <a:t>2. Convênios federais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Articulação da prefeitura para formalização de acesso estruturado a: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   CadÚnico / MDS — SIBEC — CAGED / MTE — INEP / MEC — Fazenda Municipal (IPTU)</a:t>
            </a:r>
          </a:p>
          <a:p>
            <a:endParaRPr lang="pt-BR" dirty="0"/>
          </a:p>
          <a:p>
            <a:r>
              <a:rPr lang="pt-BR" sz="1600" b="1" dirty="0">
                <a:solidFill>
                  <a:srgbClr val="1F4E79"/>
                </a:solidFill>
                <a:latin typeface="Aptos"/>
              </a:rPr>
              <a:t>3. Parceria intersecretarial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Constituição de grupo de trabalho intersecretarial para compartilhamento de dados territoriais.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   Saúde — Educação — Desenvolvimento Econômico — Fazenda</a:t>
            </a:r>
          </a:p>
          <a:p>
            <a:r>
              <a:rPr lang="pt-BR" sz="1400" b="0" dirty="0">
                <a:solidFill>
                  <a:srgbClr val="0070C0"/>
                </a:solidFill>
                <a:latin typeface="Aptos"/>
              </a:rPr>
              <a:t>O índice IVS-H é transversal — sua produção completa depende dessas secretarias.</a:t>
            </a:r>
          </a:p>
        </p:txBody>
      </p:sp>
      <p:sp>
        <p:nvSpPr>
          <p:cNvPr id="156" name="CaixaDeTexto 6"/>
          <p:cNvSpPr/>
          <p:nvPr/>
        </p:nvSpPr>
        <p:spPr>
          <a:xfrm>
            <a:off x="1320480" y="5098722"/>
            <a:ext cx="9544680" cy="65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lang="pt-BR" sz="1800" b="1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 dirty="0" err="1">
                <a:solidFill>
                  <a:srgbClr val="0070C0"/>
                </a:solidFill>
                <a:effectLst/>
                <a:uFillTx/>
                <a:latin typeface="Mona Sans VF"/>
              </a:rPr>
              <a:t>a.vendramini</a:t>
            </a:r>
            <a:r>
              <a:rPr lang="pt-BR" sz="900" b="0" u="none" strike="noStrike" dirty="0">
                <a:solidFill>
                  <a:srgbClr val="0070C0"/>
                </a:solidFill>
                <a:effectLst/>
                <a:uFillTx/>
                <a:latin typeface="Mona Sans VF"/>
              </a:rPr>
              <a:t> 07_04_2026</a:t>
            </a:r>
            <a:endParaRPr lang="pt-B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m 156"/>
          <p:cNvPicPr/>
          <p:nvPr/>
        </p:nvPicPr>
        <p:blipFill>
          <a:blip r:embed="rId3"/>
          <a:stretch/>
        </p:blipFill>
        <p:spPr>
          <a:xfrm>
            <a:off x="10901160" y="2755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Imagem 157"/>
          <p:cNvPicPr/>
          <p:nvPr/>
        </p:nvPicPr>
        <p:blipFill>
          <a:blip r:embed="rId4"/>
          <a:stretch/>
        </p:blipFill>
        <p:spPr>
          <a:xfrm>
            <a:off x="10865160" y="14590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Imagem 159"/>
          <p:cNvPicPr/>
          <p:nvPr/>
        </p:nvPicPr>
        <p:blipFill>
          <a:blip r:embed="rId4"/>
          <a:stretch/>
        </p:blipFill>
        <p:spPr>
          <a:xfrm>
            <a:off x="2375280" y="4059000"/>
            <a:ext cx="914400" cy="914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allAtOnce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2610</TotalTime>
  <Words>2289</Words>
  <Application>Microsoft Office PowerPoint</Application>
  <PresentationFormat>Widescreen</PresentationFormat>
  <Paragraphs>279</Paragraphs>
  <Slides>15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11</vt:i4>
      </vt:variant>
      <vt:variant>
        <vt:lpstr>Títulos de slides</vt:lpstr>
      </vt:variant>
      <vt:variant>
        <vt:i4>15</vt:i4>
      </vt:variant>
    </vt:vector>
  </HeadingPairs>
  <TitlesOfParts>
    <vt:vector size="33" baseType="lpstr">
      <vt:lpstr>Aptos</vt:lpstr>
      <vt:lpstr>Aptos Display</vt:lpstr>
      <vt:lpstr>Arial</vt:lpstr>
      <vt:lpstr>Mona Sans VF</vt:lpstr>
      <vt:lpstr>Symbol</vt:lpstr>
      <vt:lpstr>Times New Roman</vt:lpstr>
      <vt:lpstr>Wingdings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Apresentação do PowerPoint</vt:lpstr>
      <vt:lpstr>+                      </vt:lpstr>
      <vt:lpstr>Apresentação do PowerPoint</vt:lpstr>
      <vt:lpstr>Apresentação do PowerPoint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Ailton Vendramini</dc:creator>
  <dc:description/>
  <cp:lastModifiedBy>Ailton Vendramini</cp:lastModifiedBy>
  <cp:revision>85</cp:revision>
  <dcterms:created xsi:type="dcterms:W3CDTF">2026-03-30T15:02:14Z</dcterms:created>
  <dcterms:modified xsi:type="dcterms:W3CDTF">2026-04-08T11:17:48Z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Widescreen</vt:lpwstr>
  </property>
  <property fmtid="{D5CDD505-2E9C-101B-9397-08002B2CF9AE}" pid="4" name="Slides">
    <vt:r8>11</vt:r8>
  </property>
</Properties>
</file>